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9144000"/>
  <p:notesSz cx="6858000" cy="9144000"/>
  <p:embeddedFontLst>
    <p:embeddedFont>
      <p:font typeface="Roboto"/>
      <p:regular r:id="rId34"/>
      <p:bold r:id="rId35"/>
      <p:italic r:id="rId36"/>
      <p:boldItalic r:id="rId37"/>
    </p:embeddedFont>
    <p:embeddedFont>
      <p:font typeface="Inter"/>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hKK6kxb6AVFZhdCWmLY+8yJSmG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C01189B-6ABB-4AA5-BFE2-AA4A304670AA}">
  <a:tblStyle styleId="{AC01189B-6ABB-4AA5-BFE2-AA4A304670A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Inter-italic.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Inter-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bold.fntdata"/><Relationship Id="rId12" Type="http://schemas.openxmlformats.org/officeDocument/2006/relationships/slide" Target="slides/slide7.xml"/><Relationship Id="rId34" Type="http://schemas.openxmlformats.org/officeDocument/2006/relationships/font" Target="fonts/Roboto-regular.fntdata"/><Relationship Id="rId15" Type="http://schemas.openxmlformats.org/officeDocument/2006/relationships/slide" Target="slides/slide10.xml"/><Relationship Id="rId37" Type="http://schemas.openxmlformats.org/officeDocument/2006/relationships/font" Target="fonts/Roboto-boldItalic.fntdata"/><Relationship Id="rId14" Type="http://schemas.openxmlformats.org/officeDocument/2006/relationships/slide" Target="slides/slide9.xml"/><Relationship Id="rId36" Type="http://schemas.openxmlformats.org/officeDocument/2006/relationships/font" Target="fonts/Roboto-italic.fntdata"/><Relationship Id="rId17" Type="http://schemas.openxmlformats.org/officeDocument/2006/relationships/slide" Target="slides/slide12.xml"/><Relationship Id="rId39" Type="http://schemas.openxmlformats.org/officeDocument/2006/relationships/font" Target="fonts/Inter-bold.fntdata"/><Relationship Id="rId16" Type="http://schemas.openxmlformats.org/officeDocument/2006/relationships/slide" Target="slides/slide11.xml"/><Relationship Id="rId38" Type="http://schemas.openxmlformats.org/officeDocument/2006/relationships/font" Target="fonts/Inter-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 name="Google Shape;34;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 name="Google Shape;47;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54" name="Google Shape;54;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61" name="Google Shape;61;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68" name="Google Shape;68;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82" name="Google Shape;82;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127" name="Google Shape;127;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138" name="Google Shape;138;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148" name="Google Shape;148;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159" name="Google Shape;159;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167" name="Google Shape;167;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175" name="Google Shape;175;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183" name="Google Shape;183;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191" name="Google Shape;191;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200" name="Google Shape;200;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209" name="Google Shape;209;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218" name="Google Shape;218;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227" name="Google Shape;227;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236" name="Google Shape;236;p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245" name="Google Shape;245;p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255" name="Google Shape;255;p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82550" lvl="0" marL="171450" marR="0" rtl="0" algn="l">
              <a:lnSpc>
                <a:spcPct val="100000"/>
              </a:lnSpc>
              <a:spcBef>
                <a:spcPts val="0"/>
              </a:spcBef>
              <a:spcAft>
                <a:spcPts val="0"/>
              </a:spcAft>
              <a:buClr>
                <a:srgbClr val="000000"/>
              </a:buClr>
              <a:buSzPts val="1400"/>
              <a:buFont typeface="Calibri"/>
              <a:buNone/>
            </a:pPr>
            <a:r>
              <a:t/>
            </a:r>
            <a:endParaRPr b="0" i="0">
              <a:solidFill>
                <a:srgbClr val="001B72"/>
              </a:solidFill>
              <a:latin typeface="Inter"/>
              <a:ea typeface="Inter"/>
              <a:cs typeface="Inter"/>
              <a:sym typeface="Inter"/>
            </a:endParaRPr>
          </a:p>
        </p:txBody>
      </p:sp>
      <p:sp>
        <p:nvSpPr>
          <p:cNvPr id="262" name="Google Shape;262;p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p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cSld name="Main">
    <p:spTree>
      <p:nvGrpSpPr>
        <p:cNvPr id="23" name="Shape 23"/>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content">
  <p:cSld name="Default content">
    <p:spTree>
      <p:nvGrpSpPr>
        <p:cNvPr id="24" name="Shape 24"/>
        <p:cNvGrpSpPr/>
        <p:nvPr/>
      </p:nvGrpSpPr>
      <p:grpSpPr>
        <a:xfrm>
          <a:off x="0" y="0"/>
          <a:ext cx="0" cy="0"/>
          <a:chOff x="0" y="0"/>
          <a:chExt cx="0" cy="0"/>
        </a:xfrm>
      </p:grpSpPr>
      <p:sp>
        <p:nvSpPr>
          <p:cNvPr id="25" name="Google Shape;25;p31"/>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000"/>
              <a:buFont typeface="Arial"/>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1"/>
          <p:cNvSpPr txBox="1"/>
          <p:nvPr>
            <p:ph idx="1" type="body"/>
          </p:nvPr>
        </p:nvSpPr>
        <p:spPr>
          <a:xfrm>
            <a:off x="167640" y="1219200"/>
            <a:ext cx="8808244" cy="5130800"/>
          </a:xfrm>
          <a:prstGeom prst="rect">
            <a:avLst/>
          </a:prstGeom>
          <a:noFill/>
          <a:ln>
            <a:noFill/>
          </a:ln>
        </p:spPr>
        <p:txBody>
          <a:bodyPr anchorCtr="0" anchor="t" bIns="45700" lIns="91425" spcFirstLastPara="1" rIns="91425" wrap="square" tIns="45700">
            <a:normAutofit/>
          </a:bodyPr>
          <a:lstStyle>
            <a:lvl1pPr indent="-411480" lvl="0" marL="457200" algn="just">
              <a:lnSpc>
                <a:spcPct val="90000"/>
              </a:lnSpc>
              <a:spcBef>
                <a:spcPts val="1000"/>
              </a:spcBef>
              <a:spcAft>
                <a:spcPts val="0"/>
              </a:spcAft>
              <a:buClr>
                <a:srgbClr val="00A6E6"/>
              </a:buClr>
              <a:buSzPts val="2880"/>
              <a:buFont typeface="Courier New"/>
              <a:buChar char="o"/>
              <a:defRPr sz="2400">
                <a:latin typeface="Arial"/>
                <a:ea typeface="Arial"/>
                <a:cs typeface="Arial"/>
                <a:sym typeface="Arial"/>
              </a:defRPr>
            </a:lvl1pPr>
            <a:lvl2pPr indent="-381000" lvl="1" marL="914400" algn="just">
              <a:lnSpc>
                <a:spcPct val="90000"/>
              </a:lnSpc>
              <a:spcBef>
                <a:spcPts val="500"/>
              </a:spcBef>
              <a:spcAft>
                <a:spcPts val="0"/>
              </a:spcAft>
              <a:buClr>
                <a:schemeClr val="dk1"/>
              </a:buClr>
              <a:buSzPts val="2400"/>
              <a:buFont typeface="Arial"/>
              <a:buChar char="•"/>
              <a:defRPr sz="2400">
                <a:latin typeface="Arial"/>
                <a:ea typeface="Arial"/>
                <a:cs typeface="Arial"/>
                <a:sym typeface="Arial"/>
              </a:defRPr>
            </a:lvl2pPr>
            <a:lvl3pPr indent="-381000" lvl="2" marL="1371600" algn="just">
              <a:lnSpc>
                <a:spcPct val="90000"/>
              </a:lnSpc>
              <a:spcBef>
                <a:spcPts val="500"/>
              </a:spcBef>
              <a:spcAft>
                <a:spcPts val="0"/>
              </a:spcAft>
              <a:buClr>
                <a:schemeClr val="dk1"/>
              </a:buClr>
              <a:buSzPts val="2400"/>
              <a:buFont typeface="Noto Sans Symbols"/>
              <a:buChar char="▪"/>
              <a:defRPr sz="2400">
                <a:latin typeface="Arial"/>
                <a:ea typeface="Arial"/>
                <a:cs typeface="Arial"/>
                <a:sym typeface="Arial"/>
              </a:defRPr>
            </a:lvl3pPr>
            <a:lvl4pPr indent="-342900" lvl="3" marL="1828800" algn="l">
              <a:lnSpc>
                <a:spcPct val="90000"/>
              </a:lnSpc>
              <a:spcBef>
                <a:spcPts val="500"/>
              </a:spcBef>
              <a:spcAft>
                <a:spcPts val="0"/>
              </a:spcAft>
              <a:buClr>
                <a:schemeClr val="dk1"/>
              </a:buClr>
              <a:buSzPts val="1800"/>
              <a:buFont typeface="Noto Sans Symbols"/>
              <a:buChar char="▪"/>
              <a:defRPr>
                <a:latin typeface="Arial"/>
                <a:ea typeface="Arial"/>
                <a:cs typeface="Arial"/>
                <a:sym typeface="Arial"/>
              </a:defRPr>
            </a:lvl4pPr>
            <a:lvl5pPr indent="-342900" lvl="4" marL="2286000" algn="l">
              <a:lnSpc>
                <a:spcPct val="90000"/>
              </a:lnSpc>
              <a:spcBef>
                <a:spcPts val="500"/>
              </a:spcBef>
              <a:spcAft>
                <a:spcPts val="0"/>
              </a:spcAft>
              <a:buClr>
                <a:schemeClr val="dk1"/>
              </a:buClr>
              <a:buSzPts val="1800"/>
              <a:buFont typeface="Noto Sans Symbols"/>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
        <p:nvSpPr>
          <p:cNvPr id="28" name="Google Shape;28;p32"/>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000"/>
              <a:buFont typeface="Arial"/>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2"/>
          <p:cNvSpPr/>
          <p:nvPr/>
        </p:nvSpPr>
        <p:spPr>
          <a:xfrm>
            <a:off x="0" y="0"/>
            <a:ext cx="9144000" cy="1219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0" name="Google Shape;30;p32"/>
          <p:cNvSpPr txBox="1"/>
          <p:nvPr>
            <p:ph idx="1" type="body"/>
          </p:nvPr>
        </p:nvSpPr>
        <p:spPr>
          <a:xfrm>
            <a:off x="167640" y="705633"/>
            <a:ext cx="8808244" cy="5130800"/>
          </a:xfrm>
          <a:prstGeom prst="rect">
            <a:avLst/>
          </a:prstGeom>
          <a:noFill/>
          <a:ln>
            <a:noFill/>
          </a:ln>
        </p:spPr>
        <p:txBody>
          <a:bodyPr anchorCtr="0" anchor="t" bIns="45700" lIns="91425" spcFirstLastPara="1" rIns="91425" wrap="square" tIns="45700">
            <a:normAutofit/>
          </a:bodyPr>
          <a:lstStyle>
            <a:lvl1pPr indent="-411480" lvl="0" marL="457200" algn="just">
              <a:lnSpc>
                <a:spcPct val="90000"/>
              </a:lnSpc>
              <a:spcBef>
                <a:spcPts val="1000"/>
              </a:spcBef>
              <a:spcAft>
                <a:spcPts val="0"/>
              </a:spcAft>
              <a:buClr>
                <a:srgbClr val="00A6E6"/>
              </a:buClr>
              <a:buSzPts val="2880"/>
              <a:buFont typeface="Courier New"/>
              <a:buChar char="o"/>
              <a:defRPr sz="2400">
                <a:latin typeface="Arial"/>
                <a:ea typeface="Arial"/>
                <a:cs typeface="Arial"/>
                <a:sym typeface="Arial"/>
              </a:defRPr>
            </a:lvl1pPr>
            <a:lvl2pPr indent="-381000" lvl="1" marL="914400" algn="just">
              <a:lnSpc>
                <a:spcPct val="90000"/>
              </a:lnSpc>
              <a:spcBef>
                <a:spcPts val="500"/>
              </a:spcBef>
              <a:spcAft>
                <a:spcPts val="0"/>
              </a:spcAft>
              <a:buClr>
                <a:schemeClr val="dk1"/>
              </a:buClr>
              <a:buSzPts val="2400"/>
              <a:buFont typeface="Arial"/>
              <a:buChar char="•"/>
              <a:defRPr sz="2400">
                <a:latin typeface="Arial"/>
                <a:ea typeface="Arial"/>
                <a:cs typeface="Arial"/>
                <a:sym typeface="Arial"/>
              </a:defRPr>
            </a:lvl2pPr>
            <a:lvl3pPr indent="-381000" lvl="2" marL="1371600" algn="just">
              <a:lnSpc>
                <a:spcPct val="90000"/>
              </a:lnSpc>
              <a:spcBef>
                <a:spcPts val="500"/>
              </a:spcBef>
              <a:spcAft>
                <a:spcPts val="0"/>
              </a:spcAft>
              <a:buClr>
                <a:schemeClr val="dk1"/>
              </a:buClr>
              <a:buSzPts val="2400"/>
              <a:buFont typeface="Noto Sans Symbols"/>
              <a:buChar char="▪"/>
              <a:defRPr sz="2400">
                <a:latin typeface="Arial"/>
                <a:ea typeface="Arial"/>
                <a:cs typeface="Arial"/>
                <a:sym typeface="Arial"/>
              </a:defRPr>
            </a:lvl3pPr>
            <a:lvl4pPr indent="-342900" lvl="3" marL="1828800" algn="l">
              <a:lnSpc>
                <a:spcPct val="90000"/>
              </a:lnSpc>
              <a:spcBef>
                <a:spcPts val="500"/>
              </a:spcBef>
              <a:spcAft>
                <a:spcPts val="0"/>
              </a:spcAft>
              <a:buClr>
                <a:schemeClr val="dk1"/>
              </a:buClr>
              <a:buSzPts val="1800"/>
              <a:buFont typeface="Noto Sans Symbols"/>
              <a:buChar char="▪"/>
              <a:defRPr>
                <a:latin typeface="Arial"/>
                <a:ea typeface="Arial"/>
                <a:cs typeface="Arial"/>
                <a:sym typeface="Arial"/>
              </a:defRPr>
            </a:lvl4pPr>
            <a:lvl5pPr indent="-342900" lvl="4" marL="2286000" algn="l">
              <a:lnSpc>
                <a:spcPct val="90000"/>
              </a:lnSpc>
              <a:spcBef>
                <a:spcPts val="500"/>
              </a:spcBef>
              <a:spcAft>
                <a:spcPts val="0"/>
              </a:spcAft>
              <a:buClr>
                <a:schemeClr val="dk1"/>
              </a:buClr>
              <a:buSzPts val="1800"/>
              <a:buFont typeface="Noto Sans Symbols"/>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spTree>
      <p:nvGrpSpPr>
        <p:cNvPr id="31" name="Shape 3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idx="1" type="body"/>
          </p:nvPr>
        </p:nvSpPr>
        <p:spPr>
          <a:xfrm>
            <a:off x="175120" y="1002017"/>
            <a:ext cx="8803964" cy="5512610"/>
          </a:xfrm>
          <a:prstGeom prst="rect">
            <a:avLst/>
          </a:prstGeom>
          <a:noFill/>
          <a:ln>
            <a:noFill/>
          </a:ln>
        </p:spPr>
        <p:txBody>
          <a:bodyPr anchorCtr="0" anchor="t" bIns="45700" lIns="91425" spcFirstLastPara="1" rIns="91425" wrap="square" tIns="45700">
            <a:normAutofit/>
          </a:bodyPr>
          <a:lstStyle>
            <a:lvl1pPr indent="-411480" lvl="0" marL="457200" marR="0" rtl="0" algn="just">
              <a:lnSpc>
                <a:spcPct val="90000"/>
              </a:lnSpc>
              <a:spcBef>
                <a:spcPts val="1000"/>
              </a:spcBef>
              <a:spcAft>
                <a:spcPts val="0"/>
              </a:spcAft>
              <a:buClr>
                <a:srgbClr val="00A6E6"/>
              </a:buClr>
              <a:buSzPts val="2880"/>
              <a:buFont typeface="Courier New"/>
              <a:buChar char="o"/>
              <a:defRPr b="0" i="0" sz="2400" u="none" cap="none" strike="noStrike">
                <a:solidFill>
                  <a:schemeClr val="dk1"/>
                </a:solidFill>
                <a:latin typeface="Arial"/>
                <a:ea typeface="Arial"/>
                <a:cs typeface="Arial"/>
                <a:sym typeface="Arial"/>
              </a:defRPr>
            </a:lvl1pPr>
            <a:lvl2pPr indent="-381000" lvl="1" marL="914400" marR="0" rtl="0" algn="just">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rtl="0" algn="just">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 name="Google Shape;11;p29"/>
          <p:cNvSpPr txBox="1"/>
          <p:nvPr>
            <p:ph idx="11" type="ftr"/>
          </p:nvPr>
        </p:nvSpPr>
        <p:spPr>
          <a:xfrm>
            <a:off x="3255452" y="5407889"/>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2" name="Google Shape;12;p29"/>
          <p:cNvSpPr/>
          <p:nvPr/>
        </p:nvSpPr>
        <p:spPr>
          <a:xfrm>
            <a:off x="1" y="-32101"/>
            <a:ext cx="8810876" cy="895079"/>
          </a:xfrm>
          <a:custGeom>
            <a:rect b="b" l="l" r="r" t="t"/>
            <a:pathLst>
              <a:path extrusionOk="0" h="1021799" w="11747836">
                <a:moveTo>
                  <a:pt x="7619" y="30513"/>
                </a:moveTo>
                <a:cubicBezTo>
                  <a:pt x="-126683" y="22575"/>
                  <a:pt x="2329814" y="33688"/>
                  <a:pt x="3484562" y="32100"/>
                </a:cubicBezTo>
                <a:lnTo>
                  <a:pt x="3780473" y="31148"/>
                </a:lnTo>
                <a:lnTo>
                  <a:pt x="4360545" y="30195"/>
                </a:lnTo>
                <a:lnTo>
                  <a:pt x="5095666" y="27608"/>
                </a:lnTo>
                <a:lnTo>
                  <a:pt x="5128974" y="27607"/>
                </a:lnTo>
                <a:lnTo>
                  <a:pt x="5724936" y="29197"/>
                </a:lnTo>
                <a:lnTo>
                  <a:pt x="6144613" y="30782"/>
                </a:lnTo>
                <a:lnTo>
                  <a:pt x="6288875" y="27608"/>
                </a:lnTo>
                <a:lnTo>
                  <a:pt x="6605505" y="26021"/>
                </a:lnTo>
                <a:lnTo>
                  <a:pt x="6945690" y="27607"/>
                </a:lnTo>
                <a:lnTo>
                  <a:pt x="7171527" y="32370"/>
                </a:lnTo>
                <a:lnTo>
                  <a:pt x="7302598" y="32370"/>
                </a:lnTo>
                <a:lnTo>
                  <a:pt x="7477031" y="37133"/>
                </a:lnTo>
                <a:lnTo>
                  <a:pt x="7652251" y="32370"/>
                </a:lnTo>
                <a:lnTo>
                  <a:pt x="7962352" y="32370"/>
                </a:lnTo>
                <a:lnTo>
                  <a:pt x="8267018" y="27608"/>
                </a:lnTo>
                <a:cubicBezTo>
                  <a:pt x="9309085" y="-32717"/>
                  <a:pt x="10848425" y="23821"/>
                  <a:pt x="11232881" y="29195"/>
                </a:cubicBezTo>
                <a:cubicBezTo>
                  <a:pt x="11365742" y="31052"/>
                  <a:pt x="11287635" y="384586"/>
                  <a:pt x="11364644" y="521747"/>
                </a:cubicBezTo>
                <a:cubicBezTo>
                  <a:pt x="11441653" y="658908"/>
                  <a:pt x="11584839" y="742022"/>
                  <a:pt x="11694936" y="852160"/>
                </a:cubicBezTo>
                <a:cubicBezTo>
                  <a:pt x="11732934" y="875552"/>
                  <a:pt x="11744626" y="916489"/>
                  <a:pt x="11735857" y="954501"/>
                </a:cubicBezTo>
                <a:cubicBezTo>
                  <a:pt x="11735857" y="955476"/>
                  <a:pt x="11747836" y="988358"/>
                  <a:pt x="11747836" y="989333"/>
                </a:cubicBezTo>
                <a:cubicBezTo>
                  <a:pt x="11736145" y="1024421"/>
                  <a:pt x="11694936" y="1021753"/>
                  <a:pt x="11648169" y="1021753"/>
                </a:cubicBezTo>
                <a:lnTo>
                  <a:pt x="7997415" y="1021753"/>
                </a:lnTo>
                <a:lnTo>
                  <a:pt x="7874402" y="1021753"/>
                </a:lnTo>
                <a:lnTo>
                  <a:pt x="7095781" y="1021753"/>
                </a:lnTo>
                <a:lnTo>
                  <a:pt x="6488308" y="1021753"/>
                </a:lnTo>
                <a:lnTo>
                  <a:pt x="6332564" y="1021753"/>
                </a:lnTo>
                <a:lnTo>
                  <a:pt x="5696229" y="1021753"/>
                </a:lnTo>
                <a:lnTo>
                  <a:pt x="5275234" y="1021753"/>
                </a:lnTo>
                <a:lnTo>
                  <a:pt x="5175242" y="1021753"/>
                </a:lnTo>
                <a:lnTo>
                  <a:pt x="4433172" y="1021753"/>
                </a:lnTo>
                <a:lnTo>
                  <a:pt x="4223648" y="1021753"/>
                </a:lnTo>
                <a:lnTo>
                  <a:pt x="4189019" y="1021753"/>
                </a:lnTo>
                <a:lnTo>
                  <a:pt x="3773767" y="1021753"/>
                </a:lnTo>
                <a:lnTo>
                  <a:pt x="3322013" y="1021753"/>
                </a:lnTo>
                <a:lnTo>
                  <a:pt x="0" y="1021753"/>
                </a:lnTo>
                <a:cubicBezTo>
                  <a:pt x="0" y="-139080"/>
                  <a:pt x="7619" y="30513"/>
                  <a:pt x="7619" y="30513"/>
                </a:cubicBezTo>
                <a:close/>
              </a:path>
            </a:pathLst>
          </a:custGeom>
          <a:solidFill>
            <a:srgbClr val="0D47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 name="Google Shape;13;p29"/>
          <p:cNvSpPr/>
          <p:nvPr/>
        </p:nvSpPr>
        <p:spPr>
          <a:xfrm>
            <a:off x="8169860" y="224097"/>
            <a:ext cx="708342" cy="638842"/>
          </a:xfrm>
          <a:custGeom>
            <a:rect b="b" l="l" r="r" t="t"/>
            <a:pathLst>
              <a:path extrusionOk="0" h="252" w="323">
                <a:moveTo>
                  <a:pt x="18" y="69"/>
                </a:moveTo>
                <a:cubicBezTo>
                  <a:pt x="29" y="75"/>
                  <a:pt x="29" y="75"/>
                  <a:pt x="29" y="75"/>
                </a:cubicBezTo>
                <a:cubicBezTo>
                  <a:pt x="275" y="217"/>
                  <a:pt x="275" y="217"/>
                  <a:pt x="275" y="217"/>
                </a:cubicBezTo>
                <a:cubicBezTo>
                  <a:pt x="275" y="217"/>
                  <a:pt x="275" y="217"/>
                  <a:pt x="275" y="217"/>
                </a:cubicBezTo>
                <a:cubicBezTo>
                  <a:pt x="288" y="225"/>
                  <a:pt x="292" y="239"/>
                  <a:pt x="289" y="252"/>
                </a:cubicBezTo>
                <a:cubicBezTo>
                  <a:pt x="295" y="229"/>
                  <a:pt x="295" y="229"/>
                  <a:pt x="295" y="229"/>
                </a:cubicBezTo>
                <a:cubicBezTo>
                  <a:pt x="321" y="135"/>
                  <a:pt x="321" y="135"/>
                  <a:pt x="321" y="135"/>
                </a:cubicBezTo>
                <a:cubicBezTo>
                  <a:pt x="322" y="131"/>
                  <a:pt x="322" y="126"/>
                  <a:pt x="322" y="122"/>
                </a:cubicBezTo>
                <a:cubicBezTo>
                  <a:pt x="323" y="103"/>
                  <a:pt x="313" y="85"/>
                  <a:pt x="296" y="75"/>
                </a:cubicBezTo>
                <a:cubicBezTo>
                  <a:pt x="165" y="0"/>
                  <a:pt x="165" y="0"/>
                  <a:pt x="165" y="0"/>
                </a:cubicBezTo>
                <a:cubicBezTo>
                  <a:pt x="33" y="6"/>
                  <a:pt x="33" y="6"/>
                  <a:pt x="33" y="6"/>
                </a:cubicBezTo>
                <a:cubicBezTo>
                  <a:pt x="18" y="6"/>
                  <a:pt x="7" y="22"/>
                  <a:pt x="4" y="34"/>
                </a:cubicBezTo>
                <a:cubicBezTo>
                  <a:pt x="3" y="35"/>
                  <a:pt x="3" y="35"/>
                  <a:pt x="3" y="35"/>
                </a:cubicBezTo>
                <a:cubicBezTo>
                  <a:pt x="0" y="47"/>
                  <a:pt x="5" y="61"/>
                  <a:pt x="18" y="69"/>
                </a:cubicBezTo>
                <a:close/>
              </a:path>
            </a:pathLst>
          </a:custGeom>
          <a:solidFill>
            <a:srgbClr val="00A6E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 name="Google Shape;14;p29"/>
          <p:cNvSpPr/>
          <p:nvPr/>
        </p:nvSpPr>
        <p:spPr>
          <a:xfrm>
            <a:off x="8178631" y="-11568"/>
            <a:ext cx="967118" cy="335080"/>
          </a:xfrm>
          <a:custGeom>
            <a:rect b="b" l="l" r="r" t="t"/>
            <a:pathLst>
              <a:path extrusionOk="0" h="156" w="441">
                <a:moveTo>
                  <a:pt x="0" y="156"/>
                </a:moveTo>
                <a:cubicBezTo>
                  <a:pt x="3" y="144"/>
                  <a:pt x="14" y="133"/>
                  <a:pt x="29" y="133"/>
                </a:cubicBezTo>
                <a:cubicBezTo>
                  <a:pt x="441" y="133"/>
                  <a:pt x="441" y="133"/>
                  <a:pt x="441" y="133"/>
                </a:cubicBezTo>
                <a:cubicBezTo>
                  <a:pt x="441" y="0"/>
                  <a:pt x="441" y="0"/>
                  <a:pt x="441" y="0"/>
                </a:cubicBezTo>
                <a:cubicBezTo>
                  <a:pt x="82" y="0"/>
                  <a:pt x="82" y="0"/>
                  <a:pt x="82" y="0"/>
                </a:cubicBezTo>
                <a:cubicBezTo>
                  <a:pt x="58" y="0"/>
                  <a:pt x="37" y="16"/>
                  <a:pt x="31" y="39"/>
                </a:cubicBezTo>
                <a:cubicBezTo>
                  <a:pt x="6" y="133"/>
                  <a:pt x="6" y="133"/>
                  <a:pt x="6" y="133"/>
                </a:cubicBezTo>
                <a:lnTo>
                  <a:pt x="0" y="156"/>
                </a:lnTo>
                <a:close/>
              </a:path>
            </a:pathLst>
          </a:custGeom>
          <a:solidFill>
            <a:srgbClr val="1DBED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 name="Google Shape;15;p29"/>
          <p:cNvSpPr/>
          <p:nvPr/>
        </p:nvSpPr>
        <p:spPr>
          <a:xfrm>
            <a:off x="8176439" y="256265"/>
            <a:ext cx="699570" cy="318717"/>
          </a:xfrm>
          <a:custGeom>
            <a:rect b="b" l="l" r="r" t="t"/>
            <a:pathLst>
              <a:path extrusionOk="0" h="109" w="319">
                <a:moveTo>
                  <a:pt x="0" y="24"/>
                </a:moveTo>
                <a:cubicBezTo>
                  <a:pt x="319" y="109"/>
                  <a:pt x="319" y="109"/>
                  <a:pt x="319" y="109"/>
                </a:cubicBezTo>
                <a:cubicBezTo>
                  <a:pt x="319" y="91"/>
                  <a:pt x="309" y="74"/>
                  <a:pt x="293" y="64"/>
                </a:cubicBezTo>
                <a:cubicBezTo>
                  <a:pt x="182" y="0"/>
                  <a:pt x="182" y="0"/>
                  <a:pt x="182" y="0"/>
                </a:cubicBezTo>
                <a:cubicBezTo>
                  <a:pt x="30" y="0"/>
                  <a:pt x="30" y="0"/>
                  <a:pt x="30" y="0"/>
                </a:cubicBezTo>
                <a:cubicBezTo>
                  <a:pt x="15" y="0"/>
                  <a:pt x="4" y="11"/>
                  <a:pt x="1" y="23"/>
                </a:cubicBezTo>
                <a:lnTo>
                  <a:pt x="0" y="24"/>
                </a:lnTo>
                <a:close/>
              </a:path>
            </a:pathLst>
          </a:custGeom>
          <a:gradFill>
            <a:gsLst>
              <a:gs pos="0">
                <a:srgbClr val="000000">
                  <a:alpha val="8627"/>
                </a:srgbClr>
              </a:gs>
              <a:gs pos="100000">
                <a:srgbClr val="000000">
                  <a:alpha val="0"/>
                </a:srgbClr>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 name="Google Shape;16;p29"/>
          <p:cNvSpPr txBox="1"/>
          <p:nvPr>
            <p:ph type="title"/>
          </p:nvPr>
        </p:nvSpPr>
        <p:spPr>
          <a:xfrm>
            <a:off x="175120" y="189375"/>
            <a:ext cx="7110194" cy="52466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2500"/>
              <a:buFont typeface="Arial"/>
              <a:buNone/>
              <a:defRPr b="1" i="0" sz="25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 name="Google Shape;17;p29"/>
          <p:cNvSpPr/>
          <p:nvPr/>
        </p:nvSpPr>
        <p:spPr>
          <a:xfrm>
            <a:off x="0" y="221535"/>
            <a:ext cx="109564" cy="406680"/>
          </a:xfrm>
          <a:prstGeom prst="rect">
            <a:avLst/>
          </a:prstGeom>
          <a:solidFill>
            <a:srgbClr val="FFA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 name="Google Shape;18;p29"/>
          <p:cNvSpPr/>
          <p:nvPr/>
        </p:nvSpPr>
        <p:spPr>
          <a:xfrm>
            <a:off x="8634202" y="6369496"/>
            <a:ext cx="405098" cy="400396"/>
          </a:xfrm>
          <a:prstGeom prst="rect">
            <a:avLst/>
          </a:prstGeom>
          <a:solidFill>
            <a:srgbClr val="F3475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400"/>
              <a:buFont typeface="Roboto"/>
              <a:buNone/>
            </a:pPr>
            <a:fld id="{00000000-1234-1234-1234-123412341234}" type="slidenum">
              <a:rPr b="0" i="0" lang="en-US" sz="1400" u="none" cap="none" strike="noStrike">
                <a:solidFill>
                  <a:schemeClr val="lt1"/>
                </a:solidFill>
                <a:latin typeface="Roboto"/>
                <a:ea typeface="Roboto"/>
                <a:cs typeface="Roboto"/>
                <a:sym typeface="Roboto"/>
              </a:rPr>
              <a:t>‹#›</a:t>
            </a:fld>
            <a:endParaRPr b="0" i="0" sz="1400" u="none" cap="none" strike="noStrike">
              <a:solidFill>
                <a:schemeClr val="lt1"/>
              </a:solidFill>
              <a:latin typeface="Roboto"/>
              <a:ea typeface="Roboto"/>
              <a:cs typeface="Roboto"/>
              <a:sym typeface="Roboto"/>
            </a:endParaRPr>
          </a:p>
        </p:txBody>
      </p:sp>
      <p:sp>
        <p:nvSpPr>
          <p:cNvPr id="19" name="Google Shape;19;p29"/>
          <p:cNvSpPr txBox="1"/>
          <p:nvPr/>
        </p:nvSpPr>
        <p:spPr>
          <a:xfrm>
            <a:off x="3025379" y="-171180"/>
            <a:ext cx="1385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 name="Google Shape;20;p29"/>
          <p:cNvSpPr/>
          <p:nvPr/>
        </p:nvSpPr>
        <p:spPr>
          <a:xfrm>
            <a:off x="-4590" y="6437800"/>
            <a:ext cx="5612525" cy="433637"/>
          </a:xfrm>
          <a:custGeom>
            <a:rect b="b" l="l" r="r" t="t"/>
            <a:pathLst>
              <a:path extrusionOk="0" h="433637" w="7483367">
                <a:moveTo>
                  <a:pt x="0" y="423961"/>
                </a:moveTo>
                <a:lnTo>
                  <a:pt x="6471" y="0"/>
                </a:lnTo>
                <a:lnTo>
                  <a:pt x="7483367" y="0"/>
                </a:lnTo>
                <a:lnTo>
                  <a:pt x="7293048" y="433637"/>
                </a:lnTo>
                <a:lnTo>
                  <a:pt x="0" y="423961"/>
                </a:lnTo>
                <a:close/>
              </a:path>
            </a:pathLst>
          </a:custGeom>
          <a:solidFill>
            <a:srgbClr val="0C47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 name="Google Shape;21;p29"/>
          <p:cNvSpPr txBox="1"/>
          <p:nvPr/>
        </p:nvSpPr>
        <p:spPr>
          <a:xfrm>
            <a:off x="421396" y="6470267"/>
            <a:ext cx="50563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UIT</a:t>
            </a:r>
            <a:r>
              <a:rPr b="1" i="0" lang="en-US" sz="1400" u="none" cap="none" strike="noStrike">
                <a:solidFill>
                  <a:schemeClr val="lt1"/>
                </a:solidFill>
                <a:latin typeface="Arial"/>
                <a:ea typeface="Arial"/>
                <a:cs typeface="Arial"/>
                <a:sym typeface="Arial"/>
              </a:rPr>
              <a:t>   </a:t>
            </a:r>
            <a:r>
              <a:rPr b="0" i="0" lang="en-US" sz="1800" u="none" cap="none" strike="noStrike">
                <a:solidFill>
                  <a:schemeClr val="lt1"/>
                </a:solidFill>
                <a:latin typeface="Arial"/>
                <a:ea typeface="Arial"/>
                <a:cs typeface="Arial"/>
                <a:sym typeface="Arial"/>
              </a:rPr>
              <a:t>|</a:t>
            </a:r>
            <a:r>
              <a:rPr b="1" i="0" lang="en-US" sz="1400" u="none" cap="none" strike="noStrike">
                <a:solidFill>
                  <a:schemeClr val="lt1"/>
                </a:solidFill>
                <a:latin typeface="Arial"/>
                <a:ea typeface="Arial"/>
                <a:cs typeface="Arial"/>
                <a:sym typeface="Arial"/>
              </a:rPr>
              <a:t>  </a:t>
            </a:r>
            <a:r>
              <a:rPr b="0" i="0" lang="en-US" sz="1400" u="none" cap="none" strike="noStrike">
                <a:solidFill>
                  <a:schemeClr val="lt1"/>
                </a:solidFill>
                <a:latin typeface="Arial"/>
                <a:ea typeface="Arial"/>
                <a:cs typeface="Arial"/>
                <a:sym typeface="Arial"/>
              </a:rPr>
              <a:t>KHOA MẠNG MÁY TÍNH VÀ TRUYỀN THÔNG</a:t>
            </a:r>
            <a:endParaRPr b="0" i="0" sz="1400" u="none" cap="none" strike="noStrike">
              <a:solidFill>
                <a:srgbClr val="000000"/>
              </a:solidFill>
              <a:latin typeface="Arial"/>
              <a:ea typeface="Arial"/>
              <a:cs typeface="Arial"/>
              <a:sym typeface="Arial"/>
            </a:endParaRPr>
          </a:p>
        </p:txBody>
      </p:sp>
      <p:pic>
        <p:nvPicPr>
          <p:cNvPr descr="Logo, icon&#10;&#10;Description automatically generated" id="22" name="Google Shape;22;p29"/>
          <p:cNvPicPr preferRelativeResize="0"/>
          <p:nvPr/>
        </p:nvPicPr>
        <p:blipFill rotWithShape="1">
          <a:blip r:embed="rId1">
            <a:alphaModFix/>
          </a:blip>
          <a:srcRect b="0" l="0" r="0" t="0"/>
          <a:stretch/>
        </p:blipFill>
        <p:spPr>
          <a:xfrm>
            <a:off x="129988" y="6447776"/>
            <a:ext cx="279199" cy="37226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image" Target="../media/image13.png"/><Relationship Id="rId5" Type="http://schemas.openxmlformats.org/officeDocument/2006/relationships/image" Target="../media/image11.png"/><Relationship Id="rId6"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pic>
        <p:nvPicPr>
          <p:cNvPr id="36" name="Google Shape;36;p1"/>
          <p:cNvPicPr preferRelativeResize="0"/>
          <p:nvPr/>
        </p:nvPicPr>
        <p:blipFill rotWithShape="1">
          <a:blip r:embed="rId3">
            <a:alphaModFix/>
          </a:blip>
          <a:srcRect b="0" l="0" r="0" t="0"/>
          <a:stretch/>
        </p:blipFill>
        <p:spPr>
          <a:xfrm>
            <a:off x="636" y="0"/>
            <a:ext cx="9144000" cy="6858000"/>
          </a:xfrm>
          <a:prstGeom prst="rect">
            <a:avLst/>
          </a:prstGeom>
          <a:noFill/>
          <a:ln>
            <a:noFill/>
          </a:ln>
        </p:spPr>
      </p:pic>
      <p:sp>
        <p:nvSpPr>
          <p:cNvPr id="37" name="Google Shape;37;p1"/>
          <p:cNvSpPr txBox="1"/>
          <p:nvPr/>
        </p:nvSpPr>
        <p:spPr>
          <a:xfrm>
            <a:off x="520819" y="1509554"/>
            <a:ext cx="8413115" cy="107505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0C47A1"/>
                </a:solidFill>
                <a:latin typeface="Arial"/>
                <a:ea typeface="Arial"/>
                <a:cs typeface="Arial"/>
                <a:sym typeface="Arial"/>
              </a:rPr>
              <a:t>Triển khai CIS Benchmark trên hệ thống </a:t>
            </a:r>
            <a:endParaRPr b="1" i="0" sz="3200" u="none" cap="none" strike="noStrike">
              <a:solidFill>
                <a:srgbClr val="0C47A1"/>
              </a:solidFill>
              <a:latin typeface="Arial"/>
              <a:ea typeface="Arial"/>
              <a:cs typeface="Arial"/>
              <a:sym typeface="Arial"/>
            </a:endParaRPr>
          </a:p>
          <a:p>
            <a:pPr indent="0" lvl="0" marL="0" marR="0" rtl="0" algn="ctr">
              <a:lnSpc>
                <a:spcPct val="100000"/>
              </a:lnSpc>
              <a:spcBef>
                <a:spcPts val="0"/>
              </a:spcBef>
              <a:spcAft>
                <a:spcPts val="0"/>
              </a:spcAft>
              <a:buNone/>
            </a:pPr>
            <a:r>
              <a:rPr b="1" i="0" lang="en-US" sz="3200" u="none" cap="none" strike="noStrike">
                <a:solidFill>
                  <a:srgbClr val="0C47A1"/>
                </a:solidFill>
                <a:latin typeface="Arial"/>
                <a:ea typeface="Arial"/>
                <a:cs typeface="Arial"/>
                <a:sym typeface="Arial"/>
              </a:rPr>
              <a:t>Windows Server 2022</a:t>
            </a:r>
            <a:endParaRPr b="1" i="0" sz="3200" u="none" cap="none" strike="noStrike">
              <a:solidFill>
                <a:srgbClr val="0C47A1"/>
              </a:solidFill>
              <a:latin typeface="Arial"/>
              <a:ea typeface="Arial"/>
              <a:cs typeface="Arial"/>
              <a:sym typeface="Arial"/>
            </a:endParaRPr>
          </a:p>
        </p:txBody>
      </p:sp>
      <p:cxnSp>
        <p:nvCxnSpPr>
          <p:cNvPr id="38" name="Google Shape;38;p1"/>
          <p:cNvCxnSpPr/>
          <p:nvPr/>
        </p:nvCxnSpPr>
        <p:spPr>
          <a:xfrm>
            <a:off x="1017905" y="3596640"/>
            <a:ext cx="7103110" cy="13335"/>
          </a:xfrm>
          <a:prstGeom prst="straightConnector1">
            <a:avLst/>
          </a:prstGeom>
          <a:noFill/>
          <a:ln cap="flat" cmpd="sng" w="9525">
            <a:solidFill>
              <a:srgbClr val="DE342C"/>
            </a:solidFill>
            <a:prstDash val="solid"/>
            <a:round/>
            <a:headEnd len="sm" w="sm" type="none"/>
            <a:tailEnd len="sm" w="sm" type="none"/>
          </a:ln>
        </p:spPr>
      </p:cxnSp>
      <p:sp>
        <p:nvSpPr>
          <p:cNvPr id="39" name="Google Shape;39;p1"/>
          <p:cNvSpPr txBox="1"/>
          <p:nvPr/>
        </p:nvSpPr>
        <p:spPr>
          <a:xfrm>
            <a:off x="595" y="6395359"/>
            <a:ext cx="4860900" cy="320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500" u="none" cap="none" strike="noStrike">
                <a:solidFill>
                  <a:srgbClr val="0C47A1"/>
                </a:solidFill>
                <a:latin typeface="Roboto"/>
                <a:ea typeface="Roboto"/>
                <a:cs typeface="Roboto"/>
                <a:sym typeface="Roboto"/>
              </a:rPr>
              <a:t>Tháng 05/2026</a:t>
            </a:r>
            <a:endParaRPr b="0" i="1" sz="1500" u="none" cap="none" strike="noStrike">
              <a:solidFill>
                <a:srgbClr val="0C47A1"/>
              </a:solidFill>
              <a:latin typeface="Roboto"/>
              <a:ea typeface="Roboto"/>
              <a:cs typeface="Roboto"/>
              <a:sym typeface="Roboto"/>
            </a:endParaRPr>
          </a:p>
        </p:txBody>
      </p:sp>
      <p:grpSp>
        <p:nvGrpSpPr>
          <p:cNvPr id="40" name="Google Shape;40;p1"/>
          <p:cNvGrpSpPr/>
          <p:nvPr/>
        </p:nvGrpSpPr>
        <p:grpSpPr>
          <a:xfrm>
            <a:off x="188191" y="2929890"/>
            <a:ext cx="8690623" cy="3215438"/>
            <a:chOff x="931027" y="2393148"/>
            <a:chExt cx="7666418" cy="3749166"/>
          </a:xfrm>
        </p:grpSpPr>
        <p:sp>
          <p:nvSpPr>
            <p:cNvPr id="41" name="Google Shape;41;p1"/>
            <p:cNvSpPr txBox="1"/>
            <p:nvPr/>
          </p:nvSpPr>
          <p:spPr>
            <a:xfrm>
              <a:off x="931027" y="4474491"/>
              <a:ext cx="4909932" cy="166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800" u="none" cap="none" strike="noStrike">
                  <a:solidFill>
                    <a:srgbClr val="0C47A1"/>
                  </a:solidFill>
                  <a:latin typeface="Arial"/>
                  <a:ea typeface="Arial"/>
                  <a:cs typeface="Arial"/>
                  <a:sym typeface="Arial"/>
                </a:rPr>
                <a:t>Nhóm thực hiện:</a:t>
              </a:r>
              <a:r>
                <a:rPr b="0" i="0" lang="en-US" sz="1800" u="none" cap="none" strike="noStrike">
                  <a:solidFill>
                    <a:srgbClr val="0C47A1"/>
                  </a:solidFill>
                  <a:latin typeface="Arial"/>
                  <a:ea typeface="Arial"/>
                  <a:cs typeface="Arial"/>
                  <a:sym typeface="Arial"/>
                </a:rPr>
                <a:t> Nhóm 07 </a:t>
              </a:r>
              <a:endParaRPr b="0" i="0" sz="1800" u="none" cap="none" strike="noStrike">
                <a:solidFill>
                  <a:srgbClr val="0C47A1"/>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C47A1"/>
                  </a:solidFill>
                  <a:latin typeface="Arial"/>
                  <a:ea typeface="Arial"/>
                  <a:cs typeface="Arial"/>
                  <a:sym typeface="Arial"/>
                </a:rPr>
                <a:t>Lê Trung Kiên - 23520797</a:t>
              </a:r>
              <a:endParaRPr b="0" i="0" sz="1800" u="none" cap="none" strike="noStrike">
                <a:solidFill>
                  <a:srgbClr val="0C47A1"/>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C47A1"/>
                  </a:solidFill>
                  <a:latin typeface="Arial"/>
                  <a:ea typeface="Arial"/>
                  <a:cs typeface="Arial"/>
                  <a:sym typeface="Arial"/>
                </a:rPr>
                <a:t>Nguyễn Tiến Phát - 23521147</a:t>
              </a:r>
              <a:endParaRPr b="0" i="0" sz="1800" u="none" cap="none" strike="noStrike">
                <a:solidFill>
                  <a:srgbClr val="0C47A1"/>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C47A1"/>
                  </a:solidFill>
                  <a:latin typeface="Arial"/>
                  <a:ea typeface="Arial"/>
                  <a:cs typeface="Arial"/>
                  <a:sym typeface="Arial"/>
                </a:rPr>
                <a:t>Nguyễn Thị Như Trang - 23521628</a:t>
              </a:r>
              <a:endParaRPr b="0" i="0" sz="1800" u="none" cap="none" strike="noStrike">
                <a:solidFill>
                  <a:srgbClr val="0C47A1"/>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C47A1"/>
                  </a:solidFill>
                  <a:latin typeface="Arial"/>
                  <a:ea typeface="Arial"/>
                  <a:cs typeface="Arial"/>
                  <a:sym typeface="Arial"/>
                </a:rPr>
                <a:t>Trần Nguyễn Phú Thuận - 23521554</a:t>
              </a:r>
              <a:endParaRPr b="0" i="0" sz="1800" u="none" cap="none" strike="noStrike">
                <a:solidFill>
                  <a:srgbClr val="0C47A1"/>
                </a:solidFill>
                <a:latin typeface="Arial"/>
                <a:ea typeface="Arial"/>
                <a:cs typeface="Arial"/>
                <a:sym typeface="Arial"/>
              </a:endParaRPr>
            </a:p>
          </p:txBody>
        </p:sp>
        <p:sp>
          <p:nvSpPr>
            <p:cNvPr id="42" name="Google Shape;42;p1"/>
            <p:cNvSpPr txBox="1"/>
            <p:nvPr/>
          </p:nvSpPr>
          <p:spPr>
            <a:xfrm>
              <a:off x="951480" y="4014631"/>
              <a:ext cx="5251836" cy="4598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800" u="none" cap="none" strike="noStrike">
                  <a:solidFill>
                    <a:srgbClr val="0C47A1"/>
                  </a:solidFill>
                  <a:latin typeface="Arial"/>
                  <a:ea typeface="Arial"/>
                  <a:cs typeface="Arial"/>
                  <a:sym typeface="Arial"/>
                </a:rPr>
                <a:t>GVHD:</a:t>
              </a:r>
              <a:r>
                <a:rPr b="0" i="0" lang="en-US" sz="1800" u="none" cap="none" strike="noStrike">
                  <a:solidFill>
                    <a:srgbClr val="0C47A1"/>
                  </a:solidFill>
                  <a:latin typeface="Arial"/>
                  <a:ea typeface="Arial"/>
                  <a:cs typeface="Arial"/>
                  <a:sym typeface="Arial"/>
                </a:rPr>
                <a:t> ThS. Văn Thiên Luân </a:t>
              </a:r>
              <a:endParaRPr b="0" i="0" sz="1800" u="none" cap="none" strike="noStrike">
                <a:solidFill>
                  <a:srgbClr val="0C47A1"/>
                </a:solidFill>
                <a:latin typeface="Arial"/>
                <a:ea typeface="Arial"/>
                <a:cs typeface="Arial"/>
                <a:sym typeface="Arial"/>
              </a:endParaRPr>
            </a:p>
          </p:txBody>
        </p:sp>
        <p:sp>
          <p:nvSpPr>
            <p:cNvPr id="43" name="Google Shape;43;p1"/>
            <p:cNvSpPr txBox="1"/>
            <p:nvPr/>
          </p:nvSpPr>
          <p:spPr>
            <a:xfrm>
              <a:off x="931069" y="2393148"/>
              <a:ext cx="7666376" cy="64342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2000" u="none" cap="none" strike="noStrike">
                  <a:solidFill>
                    <a:srgbClr val="0C47A1"/>
                  </a:solidFill>
                  <a:latin typeface="Arial"/>
                  <a:ea typeface="Arial"/>
                  <a:cs typeface="Arial"/>
                  <a:sym typeface="Arial"/>
                </a:rPr>
                <a:t>Lập trình kịch bản tự động hóa cho quản trị và bảo mật mạng  </a:t>
              </a:r>
              <a:endParaRPr b="0" i="0" sz="2000" u="none" cap="none" strike="noStrike">
                <a:solidFill>
                  <a:srgbClr val="0C47A1"/>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2"/>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NỘI DUNG BÁO CÁO</a:t>
            </a:r>
            <a:endParaRPr/>
          </a:p>
        </p:txBody>
      </p:sp>
      <p:sp>
        <p:nvSpPr>
          <p:cNvPr id="50" name="Google Shape;50;p2"/>
          <p:cNvSpPr txBox="1"/>
          <p:nvPr>
            <p:ph idx="1" type="body"/>
          </p:nvPr>
        </p:nvSpPr>
        <p:spPr>
          <a:xfrm>
            <a:off x="167640" y="1219200"/>
            <a:ext cx="8808244" cy="5130800"/>
          </a:xfrm>
          <a:prstGeom prst="rect">
            <a:avLst/>
          </a:prstGeom>
          <a:noFill/>
          <a:ln>
            <a:noFill/>
          </a:ln>
        </p:spPr>
        <p:txBody>
          <a:bodyPr anchorCtr="0" anchor="t" bIns="45700" lIns="91425" spcFirstLastPara="1" rIns="91425" wrap="square" tIns="45700">
            <a:normAutofit/>
          </a:bodyPr>
          <a:lstStyle/>
          <a:p>
            <a:pPr indent="-457200" lvl="0" marL="502920" rtl="0" algn="just">
              <a:lnSpc>
                <a:spcPct val="90000"/>
              </a:lnSpc>
              <a:spcBef>
                <a:spcPts val="1000"/>
              </a:spcBef>
              <a:spcAft>
                <a:spcPts val="0"/>
              </a:spcAft>
              <a:buSzPts val="2880"/>
              <a:buFont typeface="Arial"/>
              <a:buAutoNum type="arabicPeriod"/>
            </a:pPr>
            <a:r>
              <a:rPr lang="en-US"/>
              <a:t>GIỚI THIỆU ĐỀ TÀI</a:t>
            </a:r>
            <a:endParaRPr/>
          </a:p>
          <a:p>
            <a:pPr indent="-457200" lvl="0" marL="502920" rtl="0" algn="just">
              <a:lnSpc>
                <a:spcPct val="90000"/>
              </a:lnSpc>
              <a:spcBef>
                <a:spcPts val="1000"/>
              </a:spcBef>
              <a:spcAft>
                <a:spcPts val="0"/>
              </a:spcAft>
              <a:buSzPts val="2880"/>
              <a:buFont typeface="Arial"/>
              <a:buAutoNum type="arabicPeriod"/>
            </a:pPr>
            <a:r>
              <a:rPr lang="en-US"/>
              <a:t>KIẾN TRÚC HỆ THỐNG</a:t>
            </a:r>
            <a:endParaRPr/>
          </a:p>
          <a:p>
            <a:pPr indent="-457200" lvl="0" marL="502920" rtl="0" algn="just">
              <a:lnSpc>
                <a:spcPct val="90000"/>
              </a:lnSpc>
              <a:spcBef>
                <a:spcPts val="1000"/>
              </a:spcBef>
              <a:spcAft>
                <a:spcPts val="0"/>
              </a:spcAft>
              <a:buSzPts val="2880"/>
              <a:buFont typeface="Arial"/>
              <a:buAutoNum type="arabicPeriod"/>
            </a:pPr>
            <a:r>
              <a:rPr lang="en-US"/>
              <a:t>CÁC TIÊU CHUẨN BẢO MẬT</a:t>
            </a:r>
            <a:endParaRPr/>
          </a:p>
          <a:p>
            <a:pPr indent="-457200" lvl="0" marL="502920" rtl="0" algn="just">
              <a:lnSpc>
                <a:spcPct val="90000"/>
              </a:lnSpc>
              <a:spcBef>
                <a:spcPts val="1000"/>
              </a:spcBef>
              <a:spcAft>
                <a:spcPts val="0"/>
              </a:spcAft>
              <a:buSzPts val="2880"/>
              <a:buFont typeface="Arial"/>
              <a:buAutoNum type="arabicPeriod"/>
            </a:pPr>
            <a:r>
              <a:rPr lang="en-US"/>
              <a:t>PHƯƠNG PHÁP TRIỂN KHAI </a:t>
            </a:r>
            <a:endParaRPr/>
          </a:p>
          <a:p>
            <a:pPr indent="-457200" lvl="0" marL="502920" rtl="0" algn="just">
              <a:lnSpc>
                <a:spcPct val="90000"/>
              </a:lnSpc>
              <a:spcBef>
                <a:spcPts val="1000"/>
              </a:spcBef>
              <a:spcAft>
                <a:spcPts val="0"/>
              </a:spcAft>
              <a:buSzPts val="2880"/>
              <a:buFont typeface="Arial"/>
              <a:buAutoNum type="arabicPeriod"/>
            </a:pPr>
            <a:r>
              <a:rPr lang="en-US"/>
              <a:t>KẾT QUẢ ĐẠT ĐƯỢC</a:t>
            </a:r>
            <a:endParaRPr/>
          </a:p>
          <a:p>
            <a:pPr indent="-457200" lvl="0" marL="502920" rtl="0" algn="just">
              <a:lnSpc>
                <a:spcPct val="90000"/>
              </a:lnSpc>
              <a:spcBef>
                <a:spcPts val="1000"/>
              </a:spcBef>
              <a:spcAft>
                <a:spcPts val="0"/>
              </a:spcAft>
              <a:buSzPts val="2880"/>
              <a:buFont typeface="Arial"/>
              <a:buAutoNum type="arabicPeriod"/>
            </a:pPr>
            <a:r>
              <a:rPr lang="en-US"/>
              <a:t>DEMO</a:t>
            </a:r>
            <a:endParaRPr/>
          </a:p>
          <a:p>
            <a:pPr indent="-457200" lvl="0" marL="502920" rtl="0" algn="just">
              <a:lnSpc>
                <a:spcPct val="90000"/>
              </a:lnSpc>
              <a:spcBef>
                <a:spcPts val="1000"/>
              </a:spcBef>
              <a:spcAft>
                <a:spcPts val="0"/>
              </a:spcAft>
              <a:buSzPts val="2880"/>
              <a:buFont typeface="Arial"/>
              <a:buAutoNum type="arabicPeriod"/>
            </a:pPr>
            <a:r>
              <a:rPr lang="en-US"/>
              <a:t>KẾT LUẬN VÀ HƯỚNG PHÁT TRIỂN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3"/>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1. GIỚI THIỆU ĐỀ TÀI</a:t>
            </a:r>
            <a:endParaRPr/>
          </a:p>
        </p:txBody>
      </p:sp>
      <p:sp>
        <p:nvSpPr>
          <p:cNvPr id="57" name="Google Shape;57;p3"/>
          <p:cNvSpPr txBox="1"/>
          <p:nvPr>
            <p:ph idx="1" type="body"/>
          </p:nvPr>
        </p:nvSpPr>
        <p:spPr>
          <a:xfrm>
            <a:off x="0" y="849630"/>
            <a:ext cx="9144000" cy="5671185"/>
          </a:xfrm>
          <a:prstGeom prst="rect">
            <a:avLst/>
          </a:prstGeom>
          <a:noFill/>
          <a:ln>
            <a:noFill/>
          </a:ln>
        </p:spPr>
        <p:txBody>
          <a:bodyPr anchorCtr="0" anchor="t" bIns="45700" lIns="91425" spcFirstLastPara="1" rIns="91425" wrap="square" tIns="45700">
            <a:normAutofit/>
          </a:bodyPr>
          <a:lstStyle/>
          <a:p>
            <a:pPr indent="0" lvl="0" marL="45720" rtl="0" algn="just">
              <a:lnSpc>
                <a:spcPct val="90000"/>
              </a:lnSpc>
              <a:spcBef>
                <a:spcPts val="1000"/>
              </a:spcBef>
              <a:spcAft>
                <a:spcPts val="0"/>
              </a:spcAft>
              <a:buSzPts val="2880"/>
              <a:buNone/>
            </a:pPr>
            <a:r>
              <a:rPr b="1" lang="en-US" sz="1800">
                <a:solidFill>
                  <a:schemeClr val="accent1"/>
                </a:solidFill>
              </a:rPr>
              <a:t>Đặt vấn đề:</a:t>
            </a:r>
            <a:endParaRPr b="1" sz="1800">
              <a:solidFill>
                <a:schemeClr val="accent1"/>
              </a:solidFill>
            </a:endParaRPr>
          </a:p>
          <a:p>
            <a:pPr indent="-411480" lvl="0" marL="457200" rtl="0" algn="just">
              <a:lnSpc>
                <a:spcPct val="150000"/>
              </a:lnSpc>
              <a:spcBef>
                <a:spcPts val="1000"/>
              </a:spcBef>
              <a:spcAft>
                <a:spcPts val="0"/>
              </a:spcAft>
              <a:buSzPts val="2880"/>
              <a:buChar char="o"/>
            </a:pPr>
            <a:r>
              <a:rPr lang="en-US" sz="1800"/>
              <a:t>Nguy cơ mất an toàn thông tin trên Windows Server ngày càng gia tăng, đặc biệt do lỗi cấu hình và dịch vụ mạng không được hardening đúng mức.</a:t>
            </a:r>
            <a:endParaRPr sz="1800"/>
          </a:p>
          <a:p>
            <a:pPr indent="-411480" lvl="0" marL="457200" rtl="0" algn="just">
              <a:lnSpc>
                <a:spcPct val="150000"/>
              </a:lnSpc>
              <a:spcBef>
                <a:spcPts val="1000"/>
              </a:spcBef>
              <a:spcAft>
                <a:spcPts val="0"/>
              </a:spcAft>
              <a:buSzPts val="2880"/>
              <a:buChar char="o"/>
            </a:pPr>
            <a:r>
              <a:rPr lang="en-US" sz="1800"/>
              <a:t>Việc thiết lập một chuẩn cấu hình bảo mật (security baseline) vững chắc là yêu cầu bắt buộc.</a:t>
            </a:r>
            <a:endParaRPr sz="1800"/>
          </a:p>
          <a:p>
            <a:pPr indent="-411480" lvl="0" marL="457200" rtl="0" algn="just">
              <a:lnSpc>
                <a:spcPct val="150000"/>
              </a:lnSpc>
              <a:spcBef>
                <a:spcPts val="1000"/>
              </a:spcBef>
              <a:spcAft>
                <a:spcPts val="0"/>
              </a:spcAft>
              <a:buSzPts val="2880"/>
              <a:buChar char="o"/>
            </a:pPr>
            <a:r>
              <a:rPr lang="en-US" sz="1800"/>
              <a:t>Tuy nhiên, việc áp dụng thủ công hàng trăm khuyến nghị như vậy trên nhiều máy chủ là một bài toán vô cùng khó khăn, tốn thời gian và dễ xảy ra sai sót.</a:t>
            </a:r>
            <a:endParaRPr sz="1800"/>
          </a:p>
          <a:p>
            <a:pPr indent="0" lvl="0" marL="45720" rtl="0" algn="just">
              <a:lnSpc>
                <a:spcPct val="90000"/>
              </a:lnSpc>
              <a:spcBef>
                <a:spcPts val="1000"/>
              </a:spcBef>
              <a:spcAft>
                <a:spcPts val="0"/>
              </a:spcAft>
              <a:buSzPts val="2880"/>
              <a:buNone/>
            </a:pPr>
            <a:r>
              <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4"/>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1. GIỚI THIỆU ĐỀ TÀI (tt)</a:t>
            </a:r>
            <a:endParaRPr/>
          </a:p>
        </p:txBody>
      </p:sp>
      <p:sp>
        <p:nvSpPr>
          <p:cNvPr id="64" name="Google Shape;64;p4"/>
          <p:cNvSpPr txBox="1"/>
          <p:nvPr>
            <p:ph idx="1" type="body"/>
          </p:nvPr>
        </p:nvSpPr>
        <p:spPr>
          <a:xfrm>
            <a:off x="635" y="886460"/>
            <a:ext cx="9143365" cy="5551170"/>
          </a:xfrm>
          <a:prstGeom prst="rect">
            <a:avLst/>
          </a:prstGeom>
          <a:noFill/>
          <a:ln>
            <a:noFill/>
          </a:ln>
        </p:spPr>
        <p:txBody>
          <a:bodyPr anchorCtr="0" anchor="t" bIns="45700" lIns="91425" spcFirstLastPara="1" rIns="91425" wrap="square" tIns="45700">
            <a:normAutofit lnSpcReduction="10000"/>
          </a:bodyPr>
          <a:lstStyle/>
          <a:p>
            <a:pPr indent="0" lvl="0" marL="45720" rtl="0" algn="just">
              <a:lnSpc>
                <a:spcPct val="90000"/>
              </a:lnSpc>
              <a:spcBef>
                <a:spcPts val="1000"/>
              </a:spcBef>
              <a:spcAft>
                <a:spcPts val="0"/>
              </a:spcAft>
              <a:buSzPts val="2880"/>
              <a:buNone/>
            </a:pPr>
            <a:r>
              <a:rPr b="1" lang="en-US" sz="1800">
                <a:solidFill>
                  <a:schemeClr val="accent1"/>
                </a:solidFill>
              </a:rPr>
              <a:t>Mục tiêu:</a:t>
            </a:r>
            <a:endParaRPr b="1" sz="1800">
              <a:solidFill>
                <a:schemeClr val="accent1"/>
              </a:solidFill>
            </a:endParaRPr>
          </a:p>
          <a:p>
            <a:pPr indent="-411480" lvl="0" marL="457200" rtl="0" algn="just">
              <a:lnSpc>
                <a:spcPct val="150000"/>
              </a:lnSpc>
              <a:spcBef>
                <a:spcPts val="1000"/>
              </a:spcBef>
              <a:spcAft>
                <a:spcPts val="0"/>
              </a:spcAft>
              <a:buSzPts val="2880"/>
              <a:buChar char="o"/>
            </a:pPr>
            <a:r>
              <a:rPr lang="en-US" sz="1600"/>
              <a:t>Phân tích và lựa chọn các khuyến nghị phù hợp từ CIS Benchmark.</a:t>
            </a:r>
            <a:endParaRPr sz="1600"/>
          </a:p>
          <a:p>
            <a:pPr indent="-411480" lvl="0" marL="457200" rtl="0" algn="just">
              <a:lnSpc>
                <a:spcPct val="150000"/>
              </a:lnSpc>
              <a:spcBef>
                <a:spcPts val="1000"/>
              </a:spcBef>
              <a:spcAft>
                <a:spcPts val="0"/>
              </a:spcAft>
              <a:buSzPts val="2880"/>
              <a:buChar char="o"/>
            </a:pPr>
            <a:r>
              <a:rPr lang="en-US" sz="1600"/>
              <a:t>Xây dựng quy trình tự động hóa audit, remediation và post-audit trên nhiều máy chủ Windows.</a:t>
            </a:r>
            <a:endParaRPr sz="1600"/>
          </a:p>
          <a:p>
            <a:pPr indent="-411480" lvl="0" marL="457200" rtl="0" algn="just">
              <a:lnSpc>
                <a:spcPct val="150000"/>
              </a:lnSpc>
              <a:spcBef>
                <a:spcPts val="1000"/>
              </a:spcBef>
              <a:spcAft>
                <a:spcPts val="0"/>
              </a:spcAft>
              <a:buSzPts val="2880"/>
              <a:buChar char="o"/>
            </a:pPr>
            <a:r>
              <a:rPr lang="en-US" sz="1600"/>
              <a:t>Triển khai hệ thống kiểm định và giám sát tập trung bằng HardeningKitty và Wazuh.</a:t>
            </a:r>
            <a:endParaRPr sz="1600"/>
          </a:p>
          <a:p>
            <a:pPr indent="-411480" lvl="0" marL="457200" rtl="0" algn="just">
              <a:lnSpc>
                <a:spcPct val="150000"/>
              </a:lnSpc>
              <a:spcBef>
                <a:spcPts val="1000"/>
              </a:spcBef>
              <a:spcAft>
                <a:spcPts val="0"/>
              </a:spcAft>
              <a:buSzPts val="2880"/>
              <a:buChar char="o"/>
            </a:pPr>
            <a:r>
              <a:rPr lang="en-US" sz="1600"/>
              <a:t>Đánh giá mức độ cải thiện cấu hình bảo mật trước và sau khi hardening.</a:t>
            </a:r>
            <a:endParaRPr sz="1600"/>
          </a:p>
          <a:p>
            <a:pPr indent="0" lvl="0" marL="45720" marR="0" rtl="0" algn="just">
              <a:lnSpc>
                <a:spcPct val="90000"/>
              </a:lnSpc>
              <a:spcBef>
                <a:spcPts val="1000"/>
              </a:spcBef>
              <a:spcAft>
                <a:spcPts val="0"/>
              </a:spcAft>
              <a:buClr>
                <a:srgbClr val="00A6E6"/>
              </a:buClr>
              <a:buSzPts val="2880"/>
              <a:buFont typeface="Courier New"/>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5"/>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1. GIỚI THIỆU ĐỀ TÀI (tt)</a:t>
            </a:r>
            <a:endParaRPr/>
          </a:p>
        </p:txBody>
      </p:sp>
      <p:sp>
        <p:nvSpPr>
          <p:cNvPr id="71" name="Google Shape;71;p5"/>
          <p:cNvSpPr txBox="1"/>
          <p:nvPr>
            <p:ph idx="1" type="body"/>
          </p:nvPr>
        </p:nvSpPr>
        <p:spPr>
          <a:xfrm>
            <a:off x="635" y="1219200"/>
            <a:ext cx="9143365" cy="5130800"/>
          </a:xfrm>
          <a:prstGeom prst="rect">
            <a:avLst/>
          </a:prstGeom>
          <a:noFill/>
          <a:ln>
            <a:noFill/>
          </a:ln>
        </p:spPr>
        <p:txBody>
          <a:bodyPr anchorCtr="0" anchor="t" bIns="45700" lIns="91425" spcFirstLastPara="1" rIns="91425" wrap="square" tIns="45700">
            <a:normAutofit/>
          </a:bodyPr>
          <a:lstStyle/>
          <a:p>
            <a:pPr indent="0" lvl="0" marL="45720" marR="0" rtl="0" algn="just">
              <a:lnSpc>
                <a:spcPct val="90000"/>
              </a:lnSpc>
              <a:spcBef>
                <a:spcPts val="1000"/>
              </a:spcBef>
              <a:spcAft>
                <a:spcPts val="0"/>
              </a:spcAft>
              <a:buClr>
                <a:srgbClr val="00A6E6"/>
              </a:buClr>
              <a:buSzPts val="2880"/>
              <a:buFont typeface="Courier New"/>
              <a:buNone/>
            </a:pPr>
            <a:r>
              <a:rPr b="1" i="0" lang="en-US" sz="2400" u="none" cap="none" strike="noStrike">
                <a:solidFill>
                  <a:srgbClr val="0D47A1"/>
                </a:solidFill>
                <a:latin typeface="Arial"/>
                <a:ea typeface="Arial"/>
                <a:cs typeface="Arial"/>
                <a:sym typeface="Arial"/>
              </a:rPr>
              <a:t>Giới hạn của đề tài:</a:t>
            </a:r>
            <a:endParaRPr b="1" i="0" sz="2400" u="none" cap="none" strike="noStrike">
              <a:solidFill>
                <a:srgbClr val="0D47A1"/>
              </a:solidFill>
              <a:latin typeface="Arial"/>
              <a:ea typeface="Arial"/>
              <a:cs typeface="Arial"/>
              <a:sym typeface="Arial"/>
            </a:endParaRPr>
          </a:p>
          <a:p>
            <a:pPr indent="-411480" lvl="0" marL="457200" rtl="0" algn="just">
              <a:lnSpc>
                <a:spcPct val="150000"/>
              </a:lnSpc>
              <a:spcBef>
                <a:spcPts val="1000"/>
              </a:spcBef>
              <a:spcAft>
                <a:spcPts val="0"/>
              </a:spcAft>
              <a:buSzPts val="2880"/>
              <a:buChar char="o"/>
            </a:pPr>
            <a:r>
              <a:rPr lang="en-US" sz="1600">
                <a:solidFill>
                  <a:srgbClr val="000000"/>
                </a:solidFill>
              </a:rPr>
              <a:t>Chỉ triển khai trên môi trường lab với Windows Server 2022.</a:t>
            </a:r>
            <a:endParaRPr sz="1600">
              <a:solidFill>
                <a:srgbClr val="000000"/>
              </a:solidFill>
            </a:endParaRPr>
          </a:p>
          <a:p>
            <a:pPr indent="-411480" lvl="0" marL="457200" rtl="0" algn="just">
              <a:lnSpc>
                <a:spcPct val="150000"/>
              </a:lnSpc>
              <a:spcBef>
                <a:spcPts val="1000"/>
              </a:spcBef>
              <a:spcAft>
                <a:spcPts val="0"/>
              </a:spcAft>
              <a:buSzPts val="2880"/>
              <a:buChar char="o"/>
            </a:pPr>
            <a:r>
              <a:rPr lang="en-US" sz="1600">
                <a:solidFill>
                  <a:srgbClr val="000000"/>
                </a:solidFill>
              </a:rPr>
              <a:t>Chưa bao phủ toàn bộ các khuyến nghị trong CIS Benchmark v5.0.0.</a:t>
            </a:r>
            <a:endParaRPr sz="1600">
              <a:solidFill>
                <a:srgbClr val="000000"/>
              </a:solidFill>
            </a:endParaRPr>
          </a:p>
          <a:p>
            <a:pPr indent="-411480" lvl="0" marL="457200" rtl="0" algn="just">
              <a:lnSpc>
                <a:spcPct val="150000"/>
              </a:lnSpc>
              <a:spcBef>
                <a:spcPts val="1000"/>
              </a:spcBef>
              <a:spcAft>
                <a:spcPts val="0"/>
              </a:spcAft>
              <a:buSzPts val="2880"/>
              <a:buChar char="o"/>
            </a:pPr>
            <a:r>
              <a:rPr lang="en-US" sz="1600">
                <a:solidFill>
                  <a:srgbClr val="000000"/>
                </a:solidFill>
              </a:rPr>
              <a:t>Kết quả kiểm định phụ thuộc vào phạm vi hỗ trợ của HardeningKitty và Wazuh.</a:t>
            </a:r>
            <a:endParaRPr sz="1600">
              <a:solidFill>
                <a:srgbClr val="000000"/>
              </a:solidFill>
            </a:endParaRPr>
          </a:p>
          <a:p>
            <a:pPr indent="-411480" lvl="0" marL="457200" rtl="0" algn="just">
              <a:lnSpc>
                <a:spcPct val="150000"/>
              </a:lnSpc>
              <a:spcBef>
                <a:spcPts val="1000"/>
              </a:spcBef>
              <a:spcAft>
                <a:spcPts val="0"/>
              </a:spcAft>
              <a:buSzPts val="2880"/>
              <a:buChar char="o"/>
            </a:pPr>
            <a:r>
              <a:rPr lang="en-US" sz="1600">
                <a:solidFill>
                  <a:srgbClr val="000000"/>
                </a:solidFill>
              </a:rPr>
              <a:t>Chưa đánh giá đầy đủ trên môi trường doanh nghiệp thực tế hoặc production.</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6"/>
          <p:cNvSpPr txBox="1"/>
          <p:nvPr>
            <p:ph type="title"/>
          </p:nvPr>
        </p:nvSpPr>
        <p:spPr>
          <a:xfrm>
            <a:off x="84297"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1. GIỚI THIỆU ĐỀ TÀI (tt)</a:t>
            </a:r>
            <a:endParaRPr/>
          </a:p>
        </p:txBody>
      </p:sp>
      <p:pic>
        <p:nvPicPr>
          <p:cNvPr descr="post_object_image_3267933142" id="77" name="Google Shape;77;p6"/>
          <p:cNvPicPr preferRelativeResize="0"/>
          <p:nvPr/>
        </p:nvPicPr>
        <p:blipFill rotWithShape="1">
          <a:blip r:embed="rId3">
            <a:alphaModFix/>
          </a:blip>
          <a:srcRect b="0" l="0" r="0" t="0"/>
          <a:stretch/>
        </p:blipFill>
        <p:spPr>
          <a:xfrm>
            <a:off x="7133518" y="918371"/>
            <a:ext cx="1842422" cy="962337"/>
          </a:xfrm>
          <a:prstGeom prst="rect">
            <a:avLst/>
          </a:prstGeom>
          <a:noFill/>
          <a:ln>
            <a:noFill/>
          </a:ln>
        </p:spPr>
      </p:pic>
      <p:sp>
        <p:nvSpPr>
          <p:cNvPr id="78" name="Google Shape;78;p6"/>
          <p:cNvSpPr txBox="1"/>
          <p:nvPr>
            <p:ph idx="1" type="body"/>
          </p:nvPr>
        </p:nvSpPr>
        <p:spPr>
          <a:xfrm>
            <a:off x="84285" y="995716"/>
            <a:ext cx="8808244" cy="5130800"/>
          </a:xfrm>
          <a:prstGeom prst="rect">
            <a:avLst/>
          </a:prstGeom>
          <a:noFill/>
          <a:ln>
            <a:noFill/>
          </a:ln>
        </p:spPr>
        <p:txBody>
          <a:bodyPr anchorCtr="0" anchor="t" bIns="45700" lIns="91425" spcFirstLastPara="1" rIns="91425" wrap="square" tIns="45700">
            <a:normAutofit fontScale="50000"/>
          </a:bodyPr>
          <a:lstStyle/>
          <a:p>
            <a:pPr indent="0" lvl="0" marL="45720" rtl="0" algn="just">
              <a:lnSpc>
                <a:spcPct val="90000"/>
              </a:lnSpc>
              <a:spcBef>
                <a:spcPts val="1000"/>
              </a:spcBef>
              <a:spcAft>
                <a:spcPts val="0"/>
              </a:spcAft>
              <a:buSzPct val="144000"/>
              <a:buNone/>
            </a:pPr>
            <a:r>
              <a:rPr b="1" lang="en-US" sz="4000">
                <a:solidFill>
                  <a:schemeClr val="accent1"/>
                </a:solidFill>
              </a:rPr>
              <a:t>CIS Benchmark &amp; Windows Server 2022</a:t>
            </a:r>
            <a:endParaRPr b="1" sz="4000">
              <a:solidFill>
                <a:schemeClr val="accent1"/>
              </a:solidFill>
            </a:endParaRPr>
          </a:p>
          <a:p>
            <a:pPr indent="0" lvl="0" marL="45720" rtl="0" algn="just">
              <a:lnSpc>
                <a:spcPct val="90000"/>
              </a:lnSpc>
              <a:spcBef>
                <a:spcPts val="1000"/>
              </a:spcBef>
              <a:spcAft>
                <a:spcPts val="0"/>
              </a:spcAft>
              <a:buSzPct val="180000"/>
              <a:buNone/>
            </a:pPr>
            <a:r>
              <a:t/>
            </a:r>
            <a:endParaRPr b="1" sz="3200">
              <a:solidFill>
                <a:schemeClr val="accent1"/>
              </a:solidFill>
            </a:endParaRPr>
          </a:p>
          <a:p>
            <a:pPr indent="0" lvl="0" marL="45720" rtl="0" algn="just">
              <a:lnSpc>
                <a:spcPct val="90000"/>
              </a:lnSpc>
              <a:spcBef>
                <a:spcPts val="1000"/>
              </a:spcBef>
              <a:spcAft>
                <a:spcPts val="0"/>
              </a:spcAft>
              <a:buSzPct val="180000"/>
              <a:buNone/>
            </a:pPr>
            <a:r>
              <a:rPr b="1" lang="en-US" sz="3200">
                <a:solidFill>
                  <a:schemeClr val="accent1"/>
                </a:solidFill>
              </a:rPr>
              <a:t>Center for Internet Security (CIS)</a:t>
            </a:r>
            <a:endParaRPr b="1" sz="3200">
              <a:solidFill>
                <a:schemeClr val="accent1"/>
              </a:solidFill>
            </a:endParaRPr>
          </a:p>
          <a:p>
            <a:pPr indent="-411480" lvl="0" marL="457200" rtl="0" algn="just">
              <a:lnSpc>
                <a:spcPct val="90000"/>
              </a:lnSpc>
              <a:spcBef>
                <a:spcPts val="1000"/>
              </a:spcBef>
              <a:spcAft>
                <a:spcPts val="0"/>
              </a:spcAft>
              <a:buSzPct val="180000"/>
              <a:buFont typeface="Arial"/>
              <a:buChar char="•"/>
            </a:pPr>
            <a:r>
              <a:rPr lang="en-US" sz="3200"/>
              <a:t>Tổ chức phi lợi nhuận (2000), sứ mệnh: thế giới số an toàn hơn.</a:t>
            </a:r>
            <a:endParaRPr sz="3200"/>
          </a:p>
          <a:p>
            <a:pPr indent="-411480" lvl="0" marL="457200" rtl="0" algn="just">
              <a:lnSpc>
                <a:spcPct val="90000"/>
              </a:lnSpc>
              <a:spcBef>
                <a:spcPts val="1000"/>
              </a:spcBef>
              <a:spcAft>
                <a:spcPts val="0"/>
              </a:spcAft>
              <a:buSzPct val="180000"/>
              <a:buFont typeface="Arial"/>
              <a:buChar char="•"/>
            </a:pPr>
            <a:r>
              <a:rPr b="1" lang="en-US" sz="3200"/>
              <a:t>CIS Benchmarks:</a:t>
            </a:r>
            <a:r>
              <a:rPr lang="en-US" sz="3200"/>
              <a:t> Tiêu chuẩn bảo mật miễn phí, chi tiết, được dùng rộng rãi toàn cầu.</a:t>
            </a:r>
            <a:endParaRPr sz="3200"/>
          </a:p>
          <a:p>
            <a:pPr indent="-411480" lvl="0" marL="457200" rtl="0" algn="just">
              <a:lnSpc>
                <a:spcPct val="90000"/>
              </a:lnSpc>
              <a:spcBef>
                <a:spcPts val="1000"/>
              </a:spcBef>
              <a:spcAft>
                <a:spcPts val="0"/>
              </a:spcAft>
              <a:buSzPct val="180000"/>
              <a:buFont typeface="Arial"/>
              <a:buChar char="•"/>
            </a:pPr>
            <a:r>
              <a:rPr b="1" lang="en-US" sz="3200"/>
              <a:t>CIS Microsoft Windows Server 2022 Benchmark v5.0.0:</a:t>
            </a:r>
            <a:r>
              <a:rPr lang="en-US" sz="3200"/>
              <a:t> Hướng dẫn cấu hình bảo mật cho Windows Server 2022 trong môi trường Active Directory, quản lý qua Group Policy.</a:t>
            </a:r>
            <a:endParaRPr sz="3200"/>
          </a:p>
          <a:p>
            <a:pPr indent="0" lvl="0" marL="45720" rtl="0" algn="just">
              <a:lnSpc>
                <a:spcPct val="90000"/>
              </a:lnSpc>
              <a:spcBef>
                <a:spcPts val="1000"/>
              </a:spcBef>
              <a:spcAft>
                <a:spcPts val="0"/>
              </a:spcAft>
              <a:buSzPct val="180000"/>
              <a:buNone/>
            </a:pPr>
            <a:r>
              <a:t/>
            </a:r>
            <a:endParaRPr sz="3200"/>
          </a:p>
          <a:p>
            <a:pPr indent="0" lvl="0" marL="45720" rtl="0" algn="just">
              <a:lnSpc>
                <a:spcPct val="90000"/>
              </a:lnSpc>
              <a:spcBef>
                <a:spcPts val="1000"/>
              </a:spcBef>
              <a:spcAft>
                <a:spcPts val="0"/>
              </a:spcAft>
              <a:buSzPct val="180000"/>
              <a:buNone/>
            </a:pPr>
            <a:r>
              <a:rPr b="1" lang="en-US" sz="3200">
                <a:solidFill>
                  <a:schemeClr val="accent1"/>
                </a:solidFill>
              </a:rPr>
              <a:t>Windows Server 2022 - Nền tảng bảo mật đa lớp</a:t>
            </a:r>
            <a:endParaRPr b="1" sz="3200">
              <a:solidFill>
                <a:schemeClr val="accent1"/>
              </a:solidFill>
            </a:endParaRPr>
          </a:p>
          <a:p>
            <a:pPr indent="-411480" lvl="0" marL="457200" rtl="0" algn="just">
              <a:lnSpc>
                <a:spcPct val="90000"/>
              </a:lnSpc>
              <a:spcBef>
                <a:spcPts val="1000"/>
              </a:spcBef>
              <a:spcAft>
                <a:spcPts val="0"/>
              </a:spcAft>
              <a:buSzPct val="180000"/>
              <a:buFont typeface="Arial"/>
              <a:buChar char="•"/>
            </a:pPr>
            <a:r>
              <a:rPr lang="en-US" sz="3200"/>
              <a:t>Bảo mật: Secured-core server, mã hóa AES-256 cho SMB, SMB over QUIC, DNS over HTTPS.</a:t>
            </a:r>
            <a:endParaRPr sz="3200"/>
          </a:p>
          <a:p>
            <a:pPr indent="-411480" lvl="0" marL="457200" rtl="0" algn="just">
              <a:lnSpc>
                <a:spcPct val="90000"/>
              </a:lnSpc>
              <a:spcBef>
                <a:spcPts val="1000"/>
              </a:spcBef>
              <a:spcAft>
                <a:spcPts val="0"/>
              </a:spcAft>
              <a:buSzPct val="180000"/>
              <a:buFont typeface="Arial"/>
              <a:buChar char="•"/>
            </a:pPr>
            <a:r>
              <a:rPr lang="en-US" sz="3200"/>
              <a:t>Lưu trữ &amp; Hybrid Cloud: Tích hợp Azure, cải thiện di chuyển lưu trữ.</a:t>
            </a:r>
            <a:endParaRPr sz="3200"/>
          </a:p>
          <a:p>
            <a:pPr indent="-411480" lvl="0" marL="457200" rtl="0" algn="just">
              <a:lnSpc>
                <a:spcPct val="90000"/>
              </a:lnSpc>
              <a:spcBef>
                <a:spcPts val="1000"/>
              </a:spcBef>
              <a:spcAft>
                <a:spcPts val="0"/>
              </a:spcAft>
              <a:buSzPct val="180000"/>
              <a:buFont typeface="Arial"/>
              <a:buChar char="•"/>
            </a:pPr>
            <a:r>
              <a:rPr lang="en-US" sz="3200"/>
              <a:t>Đa dạng phiên bản: Essentials, Standard, Datacenter, Azure Datacenter.</a:t>
            </a:r>
            <a:endParaRPr sz="3200"/>
          </a:p>
          <a:p>
            <a:pPr indent="0" lvl="0" marL="45720" rtl="0" algn="just">
              <a:lnSpc>
                <a:spcPct val="90000"/>
              </a:lnSpc>
              <a:spcBef>
                <a:spcPts val="1000"/>
              </a:spcBef>
              <a:spcAft>
                <a:spcPts val="0"/>
              </a:spcAft>
              <a:buSzPct val="180000"/>
              <a:buNone/>
            </a:pPr>
            <a:r>
              <a:t/>
            </a:r>
            <a:endParaRPr sz="3200"/>
          </a:p>
          <a:p>
            <a:pPr indent="0" lvl="0" marL="45720" rtl="0" algn="just">
              <a:lnSpc>
                <a:spcPct val="90000"/>
              </a:lnSpc>
              <a:spcBef>
                <a:spcPts val="1000"/>
              </a:spcBef>
              <a:spcAft>
                <a:spcPts val="0"/>
              </a:spcAft>
              <a:buSzPct val="180000"/>
              <a:buNone/>
            </a:pPr>
            <a:r>
              <a:rPr b="1" lang="en-US" sz="3200" u="sng"/>
              <a:t>Kết luận</a:t>
            </a:r>
            <a:r>
              <a:rPr lang="en-US" sz="3200"/>
              <a:t>: Kết hợp CIS Benchmarks giúp tối ưu cấu hình an toàn cho Windows Server 2022.</a:t>
            </a:r>
            <a:endParaRPr sz="3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7"/>
          <p:cNvSpPr txBox="1"/>
          <p:nvPr>
            <p:ph idx="1" type="body"/>
          </p:nvPr>
        </p:nvSpPr>
        <p:spPr>
          <a:xfrm>
            <a:off x="635" y="906780"/>
            <a:ext cx="9143365" cy="5130800"/>
          </a:xfrm>
          <a:prstGeom prst="rect">
            <a:avLst/>
          </a:prstGeom>
          <a:noFill/>
          <a:ln>
            <a:noFill/>
          </a:ln>
        </p:spPr>
        <p:txBody>
          <a:bodyPr anchorCtr="0" anchor="t" bIns="45700" lIns="91425" spcFirstLastPara="1" rIns="91425" wrap="square" tIns="45700">
            <a:normAutofit/>
          </a:bodyPr>
          <a:lstStyle/>
          <a:p>
            <a:pPr indent="0" lvl="0" marL="45720" marR="0" rtl="0" algn="just">
              <a:lnSpc>
                <a:spcPct val="90000"/>
              </a:lnSpc>
              <a:spcBef>
                <a:spcPts val="1000"/>
              </a:spcBef>
              <a:spcAft>
                <a:spcPts val="0"/>
              </a:spcAft>
              <a:buClr>
                <a:srgbClr val="00A6E6"/>
              </a:buClr>
              <a:buSzPts val="2880"/>
              <a:buFont typeface="Courier New"/>
              <a:buNone/>
            </a:pPr>
            <a:r>
              <a:rPr lang="en-US" sz="1800"/>
              <a:t>Mô hình kiến trúc hệ thống hardening và giám sát bảo mật Windows Server 2022</a:t>
            </a:r>
            <a:endParaRPr sz="1800"/>
          </a:p>
        </p:txBody>
      </p:sp>
      <p:sp>
        <p:nvSpPr>
          <p:cNvPr id="85" name="Google Shape;85;p7"/>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2. KIẾN TRÚC HỆ THỐNG</a:t>
            </a:r>
            <a:endParaRPr/>
          </a:p>
        </p:txBody>
      </p:sp>
      <p:sp>
        <p:nvSpPr>
          <p:cNvPr id="86" name="Google Shape;86;p7"/>
          <p:cNvSpPr txBox="1"/>
          <p:nvPr/>
        </p:nvSpPr>
        <p:spPr>
          <a:xfrm>
            <a:off x="635" y="6037580"/>
            <a:ext cx="9165590" cy="30670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Hình 2.1: Mô hình kiến trúc hệ thống hardening và giám sát bảo mật Windows Server 2022</a:t>
            </a:r>
            <a:endParaRPr b="0" i="0" sz="1400" u="none" cap="none" strike="noStrike">
              <a:solidFill>
                <a:srgbClr val="000000"/>
              </a:solidFill>
              <a:latin typeface="Arial"/>
              <a:ea typeface="Arial"/>
              <a:cs typeface="Arial"/>
              <a:sym typeface="Arial"/>
            </a:endParaRPr>
          </a:p>
        </p:txBody>
      </p:sp>
      <p:pic>
        <p:nvPicPr>
          <p:cNvPr id="87" name="Google Shape;87;p7"/>
          <p:cNvPicPr preferRelativeResize="0"/>
          <p:nvPr/>
        </p:nvPicPr>
        <p:blipFill rotWithShape="1">
          <a:blip r:embed="rId3">
            <a:alphaModFix/>
          </a:blip>
          <a:srcRect b="0" l="0" r="0" t="0"/>
          <a:stretch/>
        </p:blipFill>
        <p:spPr>
          <a:xfrm>
            <a:off x="908050" y="1247140"/>
            <a:ext cx="7328535" cy="48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8"/>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3. CÁC TIÊU CHUẨN BẢO MẬT</a:t>
            </a:r>
            <a:endParaRPr/>
          </a:p>
        </p:txBody>
      </p:sp>
      <p:sp>
        <p:nvSpPr>
          <p:cNvPr id="93" name="Google Shape;93;p8"/>
          <p:cNvSpPr txBox="1"/>
          <p:nvPr>
            <p:ph idx="1" type="body"/>
          </p:nvPr>
        </p:nvSpPr>
        <p:spPr>
          <a:xfrm>
            <a:off x="0" y="863573"/>
            <a:ext cx="8808244" cy="5130800"/>
          </a:xfrm>
          <a:prstGeom prst="rect">
            <a:avLst/>
          </a:prstGeom>
          <a:noFill/>
          <a:ln>
            <a:noFill/>
          </a:ln>
        </p:spPr>
        <p:txBody>
          <a:bodyPr anchorCtr="0" anchor="t" bIns="45700" lIns="91425" spcFirstLastPara="1" rIns="91425" wrap="square" tIns="45700">
            <a:normAutofit/>
          </a:bodyPr>
          <a:lstStyle/>
          <a:p>
            <a:pPr indent="-411480" lvl="0" marL="457200" rtl="0" algn="just">
              <a:lnSpc>
                <a:spcPct val="90000"/>
              </a:lnSpc>
              <a:spcBef>
                <a:spcPts val="1000"/>
              </a:spcBef>
              <a:spcAft>
                <a:spcPts val="0"/>
              </a:spcAft>
              <a:buClr>
                <a:srgbClr val="00A6E6"/>
              </a:buClr>
              <a:buSzPts val="2880"/>
              <a:buFont typeface="Courier New"/>
              <a:buChar char="o"/>
            </a:pPr>
            <a:r>
              <a:rPr b="1" lang="en-US" sz="2000">
                <a:solidFill>
                  <a:schemeClr val="accent1"/>
                </a:solidFill>
              </a:rPr>
              <a:t>Identity &amp; Access Control</a:t>
            </a:r>
            <a:endParaRPr b="1" sz="2000">
              <a:solidFill>
                <a:schemeClr val="accent1"/>
              </a:solidFill>
            </a:endParaRPr>
          </a:p>
        </p:txBody>
      </p:sp>
      <p:graphicFrame>
        <p:nvGraphicFramePr>
          <p:cNvPr id="94" name="Google Shape;94;p8"/>
          <p:cNvGraphicFramePr/>
          <p:nvPr/>
        </p:nvGraphicFramePr>
        <p:xfrm>
          <a:off x="140797" y="1237825"/>
          <a:ext cx="3000000" cy="3000000"/>
        </p:xfrm>
        <a:graphic>
          <a:graphicData uri="http://schemas.openxmlformats.org/drawingml/2006/table">
            <a:tbl>
              <a:tblPr>
                <a:noFill/>
                <a:tableStyleId>{AC01189B-6ABB-4AA5-BFE2-AA4A304670AA}</a:tableStyleId>
              </a:tblPr>
              <a:tblGrid>
                <a:gridCol w="735325"/>
                <a:gridCol w="2668275"/>
                <a:gridCol w="1487175"/>
              </a:tblGrid>
              <a:tr h="4368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Mã CIS</a:t>
                      </a:r>
                      <a:endParaRPr b="1" sz="12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D7FB"/>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Chính sách</a:t>
                      </a:r>
                      <a:endParaRPr b="1" sz="12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D7FB"/>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Giá trị yêu cầu</a:t>
                      </a:r>
                      <a:endParaRPr b="1" sz="12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D7FB"/>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1.1.4</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Minimum password length</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 14 ký tự</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1.1.5</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Password complexity</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Bật (Enabled)</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1.2.2</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Account lockout threshold</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 5 lần sai</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2.2.8</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Allow log on locally (MS only)</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Chỉ Administrators</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5588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2.2.21</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Deny access from network (MS only)</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Guests + Local Admin group</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2.3.1.1</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Guest account status</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Tắt (Disabled)</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95" name="Google Shape;95;p8"/>
          <p:cNvSpPr txBox="1"/>
          <p:nvPr/>
        </p:nvSpPr>
        <p:spPr>
          <a:xfrm>
            <a:off x="4971870" y="1237834"/>
            <a:ext cx="4009615" cy="145425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Ý nghĩa bảo mật</a:t>
            </a:r>
            <a:endParaRPr b="1"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Mật khẩu dài và phức tạp khiến việc dò tìm (brute‑force, dictionary) trở nên cực kỳ khó khăn.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Khóa tài khoản sau 5 lần sai giúp ngăn chặn tấn công tự động.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Chỉ cho phép Administrator đăng nhập cục bộ, giảm nguy cơ người dùng thường can thiệp vào máy chủ.</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Từ chối truy cập mạng đối với Guests và Local Admin group giúp tránh tấn công từ xa qua các tài khoản yếu</a:t>
            </a:r>
            <a:endParaRPr b="0" i="0" sz="1400" u="none" cap="none" strike="noStrike">
              <a:solidFill>
                <a:srgbClr val="000000"/>
              </a:solidFill>
              <a:latin typeface="Arial"/>
              <a:ea typeface="Arial"/>
              <a:cs typeface="Arial"/>
              <a:sym typeface="Arial"/>
            </a:endParaRPr>
          </a:p>
        </p:txBody>
      </p:sp>
      <p:graphicFrame>
        <p:nvGraphicFramePr>
          <p:cNvPr id="96" name="Google Shape;96;p8"/>
          <p:cNvGraphicFramePr/>
          <p:nvPr/>
        </p:nvGraphicFramePr>
        <p:xfrm>
          <a:off x="140788" y="4280680"/>
          <a:ext cx="3000000" cy="3000000"/>
        </p:xfrm>
        <a:graphic>
          <a:graphicData uri="http://schemas.openxmlformats.org/drawingml/2006/table">
            <a:tbl>
              <a:tblPr>
                <a:noFill/>
                <a:tableStyleId>{AC01189B-6ABB-4AA5-BFE2-AA4A304670AA}</a:tableStyleId>
              </a:tblPr>
              <a:tblGrid>
                <a:gridCol w="3379125"/>
                <a:gridCol w="5409900"/>
              </a:tblGrid>
              <a:tr h="4146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Rủi ro</a:t>
                      </a:r>
                      <a:endParaRPr b="1" sz="12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D7FA"/>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Hậu quả</a:t>
                      </a:r>
                      <a:endParaRPr b="1" sz="1200" u="none" cap="none" strike="noStrike">
                        <a:latin typeface="Arial"/>
                        <a:ea typeface="Arial"/>
                        <a:cs typeface="Arial"/>
                        <a:sym typeface="Arial"/>
                      </a:endParaRPr>
                    </a:p>
                  </a:txBody>
                  <a:tcPr marT="127000" marB="127000" marR="20320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D7FA"/>
                    </a:solidFill>
                  </a:tcPr>
                </a:tc>
              </a:tr>
              <a:tr h="4146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Mật khẩu ngắn, không phức tạp</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Tin tặc có thể bẻ khóa mật khẩu chỉ trong vài giờ/phút, chiếm quyền điều khiển máy chủ.</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146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Không có khóa tài khoản (threshold = 0)</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Kẻ tấn công có thể thử mật khẩu không giới hạn lần (brute‑force) mà không bị khóa.</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146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Cho phép user thường đăng nhập local</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Người dùng có thể cài đặt phần mềm trái phép hoặc vô tình chạy mã độc với đặc quyền cao hơn.</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146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Print Spooler vẫn hoạt động RDP không dùng SSL/NLA</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Bất kỳ ai trên mạng cũng có thể truy cập ẩn danh, liệt kê tài khoản, khai thác lỗ hổng.</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9"/>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3. CÁC TIÊU CHUẨN BẢO MẬT ( tt)</a:t>
            </a:r>
            <a:endParaRPr/>
          </a:p>
        </p:txBody>
      </p:sp>
      <p:sp>
        <p:nvSpPr>
          <p:cNvPr id="102" name="Google Shape;102;p9"/>
          <p:cNvSpPr txBox="1"/>
          <p:nvPr>
            <p:ph idx="1" type="body"/>
          </p:nvPr>
        </p:nvSpPr>
        <p:spPr>
          <a:xfrm>
            <a:off x="0" y="863573"/>
            <a:ext cx="8808244" cy="5130800"/>
          </a:xfrm>
          <a:prstGeom prst="rect">
            <a:avLst/>
          </a:prstGeom>
          <a:noFill/>
          <a:ln>
            <a:noFill/>
          </a:ln>
        </p:spPr>
        <p:txBody>
          <a:bodyPr anchorCtr="0" anchor="t" bIns="45700" lIns="91425" spcFirstLastPara="1" rIns="91425" wrap="square" tIns="45700">
            <a:normAutofit/>
          </a:bodyPr>
          <a:lstStyle/>
          <a:p>
            <a:pPr indent="-411480" lvl="0" marL="457200" rtl="0" algn="just">
              <a:lnSpc>
                <a:spcPct val="90000"/>
              </a:lnSpc>
              <a:spcBef>
                <a:spcPts val="1000"/>
              </a:spcBef>
              <a:spcAft>
                <a:spcPts val="0"/>
              </a:spcAft>
              <a:buClr>
                <a:srgbClr val="00A6E6"/>
              </a:buClr>
              <a:buSzPts val="2880"/>
              <a:buFont typeface="Courier New"/>
              <a:buChar char="o"/>
            </a:pPr>
            <a:r>
              <a:rPr b="1" lang="en-US" sz="2000">
                <a:solidFill>
                  <a:schemeClr val="accent1"/>
                </a:solidFill>
              </a:rPr>
              <a:t>Network &amp; Service Security</a:t>
            </a:r>
            <a:endParaRPr b="1" sz="2000">
              <a:solidFill>
                <a:schemeClr val="accent1"/>
              </a:solidFill>
            </a:endParaRPr>
          </a:p>
        </p:txBody>
      </p:sp>
      <p:graphicFrame>
        <p:nvGraphicFramePr>
          <p:cNvPr id="103" name="Google Shape;103;p9"/>
          <p:cNvGraphicFramePr/>
          <p:nvPr/>
        </p:nvGraphicFramePr>
        <p:xfrm>
          <a:off x="167640" y="1237817"/>
          <a:ext cx="3000000" cy="3000000"/>
        </p:xfrm>
        <a:graphic>
          <a:graphicData uri="http://schemas.openxmlformats.org/drawingml/2006/table">
            <a:tbl>
              <a:tblPr>
                <a:noFill/>
                <a:tableStyleId>{AC01189B-6ABB-4AA5-BFE2-AA4A304670AA}</a:tableStyleId>
              </a:tblPr>
              <a:tblGrid>
                <a:gridCol w="1059825"/>
                <a:gridCol w="2151375"/>
                <a:gridCol w="1605925"/>
              </a:tblGrid>
              <a:tr h="4368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Mã CIS</a:t>
                      </a:r>
                      <a:endParaRPr b="1" sz="12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D7FB"/>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Chính sách</a:t>
                      </a:r>
                      <a:endParaRPr b="1" sz="12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D7FB"/>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Giá trị yêu cầu</a:t>
                      </a:r>
                      <a:endParaRPr b="1" sz="12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D7FB"/>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2.3.8.1</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rgbClr val="0F1115"/>
                          </a:solidFill>
                          <a:latin typeface="Arial"/>
                          <a:ea typeface="Arial"/>
                          <a:cs typeface="Arial"/>
                          <a:sym typeface="Arial"/>
                        </a:rPr>
                        <a:t>Digitally sign communicatin</a:t>
                      </a:r>
                      <a:endParaRPr sz="14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Enabled</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5588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2.3.11.7</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Restrict anonymous access to Named Pipes and Shares</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Enabed</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18.6.7.1</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Minimum SMB version</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SMB 3.1.1</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9.1.1</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Windows Firewall State</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On</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3752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5.1</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Print Spooler Service</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rgbClr val="0F1115"/>
                          </a:solidFill>
                          <a:latin typeface="Arial"/>
                          <a:ea typeface="Arial"/>
                          <a:cs typeface="Arial"/>
                          <a:sym typeface="Arial"/>
                        </a:rPr>
                        <a:t>Disabled</a:t>
                      </a:r>
                      <a:r>
                        <a:rPr lang="en-US" sz="1000" u="none" cap="none" strike="noStrike">
                          <a:solidFill>
                            <a:srgbClr val="0F1115"/>
                          </a:solidFill>
                          <a:latin typeface="Arial"/>
                          <a:ea typeface="Arial"/>
                          <a:cs typeface="Arial"/>
                          <a:sym typeface="Arial"/>
                        </a:rPr>
                        <a:t> </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18.10.57.3.9.3</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RDP Security Layer</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SSL</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104" name="Google Shape;104;p9"/>
          <p:cNvSpPr txBox="1"/>
          <p:nvPr/>
        </p:nvSpPr>
        <p:spPr>
          <a:xfrm>
            <a:off x="4920192" y="863560"/>
            <a:ext cx="4009615" cy="145425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Ý nghĩa bảo mật</a:t>
            </a:r>
            <a:endParaRPr b="1"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Bắt buộc ký số, mã hóa SMB và sử dụng NTLMv2 giúp bảo vệ tính toàn vẹn và bảo mật dữ liệu truyền qua mạng.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Chặn truy cập ẩn danh vào Named Pipes/Shares giúp ngăn dò quét tài khoản và tài nguyên hệ thống.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Windows Firewall kiểm soát lưu lượng vào/ra, giảm nguy cơ truy cập trái phép từ mạng nội bộ hoặc Internet.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Vô hiệu hóa Print Spooler làm giảm bề mặt tấn công và ngăn khai thác lỗ hổng PrintNightmare.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Yêu cầu SSL và NLA cho RDP giúp bảo vệ phiên quản trị từ xa trước nghe lén và brute-force.</a:t>
            </a:r>
            <a:endParaRPr b="0" i="0" sz="1400" u="none" cap="none" strike="noStrike">
              <a:solidFill>
                <a:srgbClr val="000000"/>
              </a:solidFill>
              <a:latin typeface="Arial"/>
              <a:ea typeface="Arial"/>
              <a:cs typeface="Arial"/>
              <a:sym typeface="Arial"/>
            </a:endParaRPr>
          </a:p>
        </p:txBody>
      </p:sp>
      <p:graphicFrame>
        <p:nvGraphicFramePr>
          <p:cNvPr id="105" name="Google Shape;105;p9"/>
          <p:cNvGraphicFramePr/>
          <p:nvPr/>
        </p:nvGraphicFramePr>
        <p:xfrm>
          <a:off x="140788" y="4280680"/>
          <a:ext cx="3000000" cy="3000000"/>
        </p:xfrm>
        <a:graphic>
          <a:graphicData uri="http://schemas.openxmlformats.org/drawingml/2006/table">
            <a:tbl>
              <a:tblPr>
                <a:noFill/>
                <a:tableStyleId>{AC01189B-6ABB-4AA5-BFE2-AA4A304670AA}</a:tableStyleId>
              </a:tblPr>
              <a:tblGrid>
                <a:gridCol w="3500125"/>
                <a:gridCol w="5288925"/>
              </a:tblGrid>
              <a:tr h="4368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Rủi ro</a:t>
                      </a:r>
                      <a:endParaRPr b="1" sz="12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D7FA"/>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Hậu quả</a:t>
                      </a:r>
                      <a:endParaRPr b="1" sz="1200" u="none" cap="none" strike="noStrike">
                        <a:latin typeface="Arial"/>
                        <a:ea typeface="Arial"/>
                        <a:cs typeface="Arial"/>
                        <a:sym typeface="Arial"/>
                      </a:endParaRPr>
                    </a:p>
                  </a:txBody>
                  <a:tcPr marT="127000" marB="127000" marR="20320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D7FA"/>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Sử dụng giao thức xác thực cũ hoặc SMB không mã hóa</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Tin tặc có thể nghe lén, đánh cắp thông tin xác thực và thực hiện Man-in-the-Middle.</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588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Cho phép truy cập ẩn danh</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Kẻ tấn công có thể dò quét tài khoản, share và cấu trúc hệ thống mà không cần đăng nhập.</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588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Print Spooler vẫn hoạt động</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Có thể bị khai thác để thực thi mã độc với quyền SYSTEM. / Dịch vụ nội bộ dễ bị phơi bày và khai thác từ xa.</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RDP không dùng SSL/NLA</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Bất kỳ ai trên mạng cũng có thể truy cập ẩn danh, liệt kê tài khoản, khai thác lỗ hổng.</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0"/>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3. CÁC TIÊU CHUẨN BẢO MẬT ( tt) </a:t>
            </a:r>
            <a:endParaRPr/>
          </a:p>
        </p:txBody>
      </p:sp>
      <p:sp>
        <p:nvSpPr>
          <p:cNvPr id="111" name="Google Shape;111;p10"/>
          <p:cNvSpPr txBox="1"/>
          <p:nvPr>
            <p:ph idx="1" type="body"/>
          </p:nvPr>
        </p:nvSpPr>
        <p:spPr>
          <a:xfrm>
            <a:off x="0" y="863573"/>
            <a:ext cx="8808244" cy="5130800"/>
          </a:xfrm>
          <a:prstGeom prst="rect">
            <a:avLst/>
          </a:prstGeom>
          <a:noFill/>
          <a:ln>
            <a:noFill/>
          </a:ln>
        </p:spPr>
        <p:txBody>
          <a:bodyPr anchorCtr="0" anchor="t" bIns="45700" lIns="91425" spcFirstLastPara="1" rIns="91425" wrap="square" tIns="45700">
            <a:normAutofit/>
          </a:bodyPr>
          <a:lstStyle/>
          <a:p>
            <a:pPr indent="-411480" lvl="0" marL="457200" rtl="0" algn="just">
              <a:lnSpc>
                <a:spcPct val="90000"/>
              </a:lnSpc>
              <a:spcBef>
                <a:spcPts val="1000"/>
              </a:spcBef>
              <a:spcAft>
                <a:spcPts val="0"/>
              </a:spcAft>
              <a:buClr>
                <a:srgbClr val="00A6E6"/>
              </a:buClr>
              <a:buSzPts val="2880"/>
              <a:buFont typeface="Courier New"/>
              <a:buChar char="o"/>
            </a:pPr>
            <a:r>
              <a:rPr b="1" lang="en-US" sz="2000">
                <a:solidFill>
                  <a:schemeClr val="accent1"/>
                </a:solidFill>
                <a:latin typeface="Arial"/>
                <a:ea typeface="Arial"/>
                <a:cs typeface="Arial"/>
                <a:sym typeface="Arial"/>
              </a:rPr>
              <a:t>Auditting &amp; Monitoring</a:t>
            </a:r>
            <a:endParaRPr>
              <a:latin typeface="Arial"/>
              <a:ea typeface="Arial"/>
              <a:cs typeface="Arial"/>
              <a:sym typeface="Arial"/>
            </a:endParaRPr>
          </a:p>
        </p:txBody>
      </p:sp>
      <p:graphicFrame>
        <p:nvGraphicFramePr>
          <p:cNvPr id="112" name="Google Shape;112;p10"/>
          <p:cNvGraphicFramePr/>
          <p:nvPr/>
        </p:nvGraphicFramePr>
        <p:xfrm>
          <a:off x="154175" y="1237825"/>
          <a:ext cx="3000000" cy="3000000"/>
        </p:xfrm>
        <a:graphic>
          <a:graphicData uri="http://schemas.openxmlformats.org/drawingml/2006/table">
            <a:tbl>
              <a:tblPr>
                <a:noFill/>
                <a:tableStyleId>{AC01189B-6ABB-4AA5-BFE2-AA4A304670AA}</a:tableStyleId>
              </a:tblPr>
              <a:tblGrid>
                <a:gridCol w="724525"/>
                <a:gridCol w="2486650"/>
                <a:gridCol w="1605925"/>
              </a:tblGrid>
              <a:tr h="4368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Mã CIS</a:t>
                      </a:r>
                      <a:endParaRPr b="1" sz="12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D7FB"/>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Chính sách</a:t>
                      </a:r>
                      <a:endParaRPr b="1" sz="12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D7FB"/>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Giá trị yêu cầu</a:t>
                      </a:r>
                      <a:endParaRPr b="1" sz="12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D7FB"/>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2.3.2.1</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Force audit policy subcategory settings</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rgbClr val="0F1115"/>
                          </a:solidFill>
                          <a:latin typeface="Arial"/>
                          <a:ea typeface="Arial"/>
                          <a:cs typeface="Arial"/>
                          <a:sym typeface="Arial"/>
                        </a:rPr>
                        <a:t>Enabled</a:t>
                      </a:r>
                      <a:endParaRPr sz="14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2.3.2.2</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Shut down system if unable to log audits</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rgbClr val="0F1115"/>
                          </a:solidFill>
                          <a:latin typeface="Arial"/>
                          <a:ea typeface="Arial"/>
                          <a:cs typeface="Arial"/>
                          <a:sym typeface="Arial"/>
                        </a:rPr>
                        <a:t>Disabled</a:t>
                      </a:r>
                      <a:endParaRPr sz="14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17.1.1</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Audit Credential Validation</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Success and Failure</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18.10.26.2.2</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Security Log Maximum Size</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196608 KB</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5588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18.10.26.4.2</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System Log Maximum Size</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 32768 KB</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2.3.1.1</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Guest account status</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Tắt (Disabled)</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113" name="Google Shape;113;p10"/>
          <p:cNvSpPr txBox="1"/>
          <p:nvPr/>
        </p:nvSpPr>
        <p:spPr>
          <a:xfrm>
            <a:off x="4971336" y="995720"/>
            <a:ext cx="4009615" cy="145425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Ý nghĩa bảo mật</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Ghi nhận đầy đủ các sự kiện đăng nhập, xác thực, thay đổi quyền và hoạt động hệ thống giúp tăng khả năng giám sát và điều tra sự cố bảo mật.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Sensitive Privilege Use hỗ trợ phát hiện malware execution hoặc leo thang đặc quyền.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Audit Policy Change giúp theo dõi các thay đổi cấu hình bảo mật nhằm phát hiện hành vi vô hiệu hóa cơ chế phòng thủ.</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Audit System Integrity hỗ trợ phát hiện thay đổi bất thường liên quan đến kernel, driver hoặc thành phần hệ thống quan trọng.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Đảm bảo hệ thống có đủ bộ nhớ ghi các  events</a:t>
            </a:r>
            <a:endParaRPr b="0" i="0" sz="1400" u="none" cap="none" strike="noStrike">
              <a:solidFill>
                <a:srgbClr val="000000"/>
              </a:solidFill>
              <a:latin typeface="Arial"/>
              <a:ea typeface="Arial"/>
              <a:cs typeface="Arial"/>
              <a:sym typeface="Arial"/>
            </a:endParaRPr>
          </a:p>
        </p:txBody>
      </p:sp>
      <p:graphicFrame>
        <p:nvGraphicFramePr>
          <p:cNvPr id="114" name="Google Shape;114;p10"/>
          <p:cNvGraphicFramePr/>
          <p:nvPr/>
        </p:nvGraphicFramePr>
        <p:xfrm>
          <a:off x="140788" y="4280680"/>
          <a:ext cx="3000000" cy="3000000"/>
        </p:xfrm>
        <a:graphic>
          <a:graphicData uri="http://schemas.openxmlformats.org/drawingml/2006/table">
            <a:tbl>
              <a:tblPr>
                <a:noFill/>
                <a:tableStyleId>{AC01189B-6ABB-4AA5-BFE2-AA4A304670AA}</a:tableStyleId>
              </a:tblPr>
              <a:tblGrid>
                <a:gridCol w="2627625"/>
                <a:gridCol w="6161400"/>
              </a:tblGrid>
              <a:tr h="4146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Rủi ro</a:t>
                      </a:r>
                      <a:endParaRPr b="1" sz="12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D7FA"/>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Hậu quả</a:t>
                      </a:r>
                      <a:endParaRPr b="1" sz="1200" u="none" cap="none" strike="noStrike">
                        <a:latin typeface="Arial"/>
                        <a:ea typeface="Arial"/>
                        <a:cs typeface="Arial"/>
                        <a:sym typeface="Arial"/>
                      </a:endParaRPr>
                    </a:p>
                  </a:txBody>
                  <a:tcPr marT="127000" marB="127000" marR="20320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D7FA"/>
                    </a:solidFill>
                  </a:tcPr>
                </a:tc>
              </a:tr>
              <a:tr h="4146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Mật khẩu ngắn, không phức tạp</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Mất log quan trọng, khó phát hiện truy cập trái phép hoặc điều tra forensic.</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146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Không có khóa tài khoản (threshold = 0)</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Khó phát hiện brute-force, credential theft hoặc truy cập bất thường.</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146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Cho phép user thường đăng nhập local</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Malware hoặc mã độc thực thi mà không bị ghi nhận.</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146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Guest account được bật</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Kẻ tấn công có thể vô hiệu hóa cơ chế bảo mật hoặc leo thang đặc quyền mà không bị phát hiện.</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1"/>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3. CÁC TIÊU CHUẨN BẢO MẬT ( tt) </a:t>
            </a:r>
            <a:endParaRPr/>
          </a:p>
        </p:txBody>
      </p:sp>
      <p:sp>
        <p:nvSpPr>
          <p:cNvPr id="120" name="Google Shape;120;p11"/>
          <p:cNvSpPr txBox="1"/>
          <p:nvPr>
            <p:ph idx="1" type="body"/>
          </p:nvPr>
        </p:nvSpPr>
        <p:spPr>
          <a:xfrm>
            <a:off x="0" y="863573"/>
            <a:ext cx="8808244" cy="5130800"/>
          </a:xfrm>
          <a:prstGeom prst="rect">
            <a:avLst/>
          </a:prstGeom>
          <a:noFill/>
          <a:ln>
            <a:noFill/>
          </a:ln>
        </p:spPr>
        <p:txBody>
          <a:bodyPr anchorCtr="0" anchor="t" bIns="45700" lIns="91425" spcFirstLastPara="1" rIns="91425" wrap="square" tIns="45700">
            <a:normAutofit/>
          </a:bodyPr>
          <a:lstStyle/>
          <a:p>
            <a:pPr indent="-411480" lvl="0" marL="457200" rtl="0" algn="just">
              <a:lnSpc>
                <a:spcPct val="90000"/>
              </a:lnSpc>
              <a:spcBef>
                <a:spcPts val="1000"/>
              </a:spcBef>
              <a:spcAft>
                <a:spcPts val="0"/>
              </a:spcAft>
              <a:buClr>
                <a:srgbClr val="00A6E6"/>
              </a:buClr>
              <a:buSzPts val="2880"/>
              <a:buFont typeface="Courier New"/>
              <a:buChar char="o"/>
            </a:pPr>
            <a:r>
              <a:rPr b="1" lang="en-US" sz="2000">
                <a:solidFill>
                  <a:schemeClr val="accent1"/>
                </a:solidFill>
              </a:rPr>
              <a:t>System Hardening and Antimalware </a:t>
            </a:r>
            <a:endParaRPr b="1" sz="2000">
              <a:solidFill>
                <a:schemeClr val="accent1"/>
              </a:solidFill>
            </a:endParaRPr>
          </a:p>
        </p:txBody>
      </p:sp>
      <p:graphicFrame>
        <p:nvGraphicFramePr>
          <p:cNvPr id="121" name="Google Shape;121;p11"/>
          <p:cNvGraphicFramePr/>
          <p:nvPr/>
        </p:nvGraphicFramePr>
        <p:xfrm>
          <a:off x="154175" y="1237825"/>
          <a:ext cx="3000000" cy="3000000"/>
        </p:xfrm>
        <a:graphic>
          <a:graphicData uri="http://schemas.openxmlformats.org/drawingml/2006/table">
            <a:tbl>
              <a:tblPr>
                <a:noFill/>
                <a:tableStyleId>{AC01189B-6ABB-4AA5-BFE2-AA4A304670AA}</a:tableStyleId>
              </a:tblPr>
              <a:tblGrid>
                <a:gridCol w="724525"/>
                <a:gridCol w="2486650"/>
                <a:gridCol w="1605925"/>
              </a:tblGrid>
              <a:tr h="4368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Mã CIS</a:t>
                      </a:r>
                      <a:endParaRPr b="1" sz="12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D7FB"/>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Chính sách</a:t>
                      </a:r>
                      <a:endParaRPr b="1" sz="12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D7FB"/>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Giá trị yêu cầu</a:t>
                      </a:r>
                      <a:endParaRPr b="1" sz="12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D7FB"/>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18.10.42.4.1</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Enable EDR in block mode</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Enabled</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18.10.42.6.1.1</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Configure Attack Surface Reduction rules</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Enabled</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18.10.42.10.3</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Turn off real-time protection</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Disabled</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18.10.42.16</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Detection for potentially unwanted applications</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Enabled: Block</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5588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2.3.17.1</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UAC: Admin Approval Mode</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Enabled</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2.3.1.1</a:t>
                      </a:r>
                      <a:endParaRPr sz="1000" u="none" cap="none" strike="noStrike">
                        <a:latin typeface="Arial"/>
                        <a:ea typeface="Arial"/>
                        <a:cs typeface="Arial"/>
                        <a:sym typeface="Arial"/>
                      </a:endParaRPr>
                    </a:p>
                  </a:txBody>
                  <a:tcPr marT="127000" marB="127000" marR="20320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Guest account status</a:t>
                      </a:r>
                      <a:endParaRPr sz="1000" u="none" cap="none" strike="noStrike">
                        <a:latin typeface="Arial"/>
                        <a:ea typeface="Arial"/>
                        <a:cs typeface="Arial"/>
                        <a:sym typeface="Arial"/>
                      </a:endParaRPr>
                    </a:p>
                  </a:txBody>
                  <a:tcPr marT="127000" marB="127000" marR="20320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F1115"/>
                          </a:solidFill>
                          <a:latin typeface="Arial"/>
                          <a:ea typeface="Arial"/>
                          <a:cs typeface="Arial"/>
                          <a:sym typeface="Arial"/>
                        </a:rPr>
                        <a:t>Tắt (Disabled)</a:t>
                      </a:r>
                      <a:endParaRPr sz="1000" u="none" cap="none" strike="noStrike">
                        <a:latin typeface="Arial"/>
                        <a:ea typeface="Arial"/>
                        <a:cs typeface="Arial"/>
                        <a:sym typeface="Arial"/>
                      </a:endParaRPr>
                    </a:p>
                  </a:txBody>
                  <a:tcPr marT="127000" marB="127000" marR="0" marL="2032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122" name="Google Shape;122;p11"/>
          <p:cNvSpPr txBox="1"/>
          <p:nvPr/>
        </p:nvSpPr>
        <p:spPr>
          <a:xfrm>
            <a:off x="4920168" y="598051"/>
            <a:ext cx="4009615" cy="145425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Arial"/>
                <a:ea typeface="Arial"/>
                <a:cs typeface="Arial"/>
                <a:sym typeface="Arial"/>
              </a:rPr>
              <a:t>Ý nghĩa bảo mật</a:t>
            </a:r>
            <a:endParaRPr b="1" i="0" sz="13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Microsoft Defender Antivirus giúp phát hiện và ngăn chặn mã độc theo thời gian thực thông qua EDR, behavior monitoring và script scanning.</a:t>
            </a:r>
            <a:endParaRPr b="0" i="0" sz="13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Attack Surface Reduction (ASR) giảm nguy cơ khai thác PowerShell, Office macro, WMI và các kỹ thuật fileless malware.</a:t>
            </a:r>
            <a:endParaRPr b="0" i="0" sz="13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Quét file tải xuống, USB và chặn PUA giúp hạn chế lây nhiễm từ nguồn bên ngoài.</a:t>
            </a:r>
            <a:endParaRPr b="0" i="0" sz="13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Vô hiệu hóa SMBv1 giúp loại bỏ giao thức cũ dễ bị khai thác cho lateral movement và ransomware.</a:t>
            </a:r>
            <a:endParaRPr b="0" i="0" sz="13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Safe DLL Search Mode và UAC giúp ngăn tiến trình trái phép tự động nâng quyền hoặc DLL hijacking.</a:t>
            </a:r>
            <a:endParaRPr b="0" i="0" sz="13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0" i="0" lang="en-US" sz="1300" u="none" cap="none" strike="noStrike">
                <a:solidFill>
                  <a:srgbClr val="000000"/>
                </a:solidFill>
                <a:latin typeface="Arial"/>
                <a:ea typeface="Arial"/>
                <a:cs typeface="Arial"/>
                <a:sym typeface="Arial"/>
              </a:rPr>
              <a:t>Secure Desktop bảo vệ quá trình xác nhận nâng quyền trước các kỹ thuật giả mạo giao diện người dùng.</a:t>
            </a:r>
            <a:endParaRPr b="0" i="0" sz="1300" u="none" cap="none" strike="noStrike">
              <a:solidFill>
                <a:srgbClr val="000000"/>
              </a:solidFill>
              <a:latin typeface="Arial"/>
              <a:ea typeface="Arial"/>
              <a:cs typeface="Arial"/>
              <a:sym typeface="Arial"/>
            </a:endParaRPr>
          </a:p>
        </p:txBody>
      </p:sp>
      <p:graphicFrame>
        <p:nvGraphicFramePr>
          <p:cNvPr id="123" name="Google Shape;123;p11"/>
          <p:cNvGraphicFramePr/>
          <p:nvPr/>
        </p:nvGraphicFramePr>
        <p:xfrm>
          <a:off x="140788" y="4314970"/>
          <a:ext cx="3000000" cy="3000000"/>
        </p:xfrm>
        <a:graphic>
          <a:graphicData uri="http://schemas.openxmlformats.org/drawingml/2006/table">
            <a:tbl>
              <a:tblPr>
                <a:noFill/>
                <a:tableStyleId>{AC01189B-6ABB-4AA5-BFE2-AA4A304670AA}</a:tableStyleId>
              </a:tblPr>
              <a:tblGrid>
                <a:gridCol w="2627625"/>
                <a:gridCol w="6161400"/>
              </a:tblGrid>
              <a:tr h="4368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Rủi ro</a:t>
                      </a:r>
                      <a:endParaRPr b="1" sz="12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D7FA"/>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F1115"/>
                          </a:solidFill>
                          <a:latin typeface="Arial"/>
                          <a:ea typeface="Arial"/>
                          <a:cs typeface="Arial"/>
                          <a:sym typeface="Arial"/>
                        </a:rPr>
                        <a:t>Hậu quả</a:t>
                      </a:r>
                      <a:endParaRPr b="1" sz="1200" u="none" cap="none" strike="noStrike">
                        <a:latin typeface="Arial"/>
                        <a:ea typeface="Arial"/>
                        <a:cs typeface="Arial"/>
                        <a:sym typeface="Arial"/>
                      </a:endParaRPr>
                    </a:p>
                  </a:txBody>
                  <a:tcPr marT="127000" marB="127000" marR="20320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D7FA"/>
                    </a:solidFill>
                  </a:tcPr>
                </a:tc>
              </a:tr>
              <a:tr h="4076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Tắt real-time protection hoặc EDR</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Mã độc có thể thực thi và tồn tại trên hệ thống mà không bị phát hiện.</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83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Không cấu hình ASR</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PowerShell, Office macro hoặc WMI có thể bị lợi dụng để chạy fileless malware.</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76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Không quét USB hoặc file tải xuống</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Hệ thống dễ bị lây nhiễm malware từ thiết bị rời và Internet.</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76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Không bật Safe DLL Search Mode</a:t>
                      </a:r>
                      <a:endParaRPr sz="1000" u="none" cap="none" strike="noStrike">
                        <a:latin typeface="Arial"/>
                        <a:ea typeface="Arial"/>
                        <a:cs typeface="Arial"/>
                        <a:sym typeface="Arial"/>
                      </a:endParaRPr>
                    </a:p>
                  </a:txBody>
                  <a:tcPr marT="127000" marB="127000" marR="20320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Ứng dụng có thể tải DLL giả mạo dẫn đến thực thi mã độc.</a:t>
                      </a:r>
                      <a:endParaRPr sz="1000" u="none" cap="none" strike="noStrike">
                        <a:latin typeface="Arial"/>
                        <a:ea typeface="Arial"/>
                        <a:cs typeface="Arial"/>
                        <a:sym typeface="Arial"/>
                      </a:endParaRPr>
                    </a:p>
                  </a:txBody>
                  <a:tcPr marT="127000" marB="127000" marR="0" marL="203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2"/>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4. PHƯƠNG PHÁP TRIỂN KHAI</a:t>
            </a:r>
            <a:endParaRPr/>
          </a:p>
        </p:txBody>
      </p:sp>
      <p:pic>
        <p:nvPicPr>
          <p:cNvPr descr="post_object_image_3345805368" id="130" name="Google Shape;130;p12"/>
          <p:cNvPicPr preferRelativeResize="0"/>
          <p:nvPr/>
        </p:nvPicPr>
        <p:blipFill rotWithShape="1">
          <a:blip r:embed="rId3">
            <a:alphaModFix/>
          </a:blip>
          <a:srcRect b="0" l="0" r="0" t="0"/>
          <a:stretch/>
        </p:blipFill>
        <p:spPr>
          <a:xfrm>
            <a:off x="107315" y="1454783"/>
            <a:ext cx="3989586" cy="4952589"/>
          </a:xfrm>
          <a:prstGeom prst="rect">
            <a:avLst/>
          </a:prstGeom>
          <a:noFill/>
          <a:ln>
            <a:noFill/>
          </a:ln>
        </p:spPr>
      </p:pic>
      <p:sp>
        <p:nvSpPr>
          <p:cNvPr id="131" name="Google Shape;131;p12"/>
          <p:cNvSpPr txBox="1"/>
          <p:nvPr/>
        </p:nvSpPr>
        <p:spPr>
          <a:xfrm>
            <a:off x="4196715" y="1702435"/>
            <a:ext cx="4774565" cy="3067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Cách 1: Qua GUI</a:t>
            </a:r>
            <a:endParaRPr b="0" i="0" sz="1400" u="none" cap="none" strike="noStrike">
              <a:solidFill>
                <a:srgbClr val="000000"/>
              </a:solidFill>
              <a:latin typeface="Arial"/>
              <a:ea typeface="Arial"/>
              <a:cs typeface="Arial"/>
              <a:sym typeface="Arial"/>
            </a:endParaRPr>
          </a:p>
        </p:txBody>
      </p:sp>
      <p:pic>
        <p:nvPicPr>
          <p:cNvPr descr="post_object_image_3895224681" id="132" name="Google Shape;132;p12"/>
          <p:cNvPicPr preferRelativeResize="0"/>
          <p:nvPr/>
        </p:nvPicPr>
        <p:blipFill rotWithShape="1">
          <a:blip r:embed="rId4">
            <a:alphaModFix/>
          </a:blip>
          <a:srcRect b="0" l="0" r="0" t="0"/>
          <a:stretch/>
        </p:blipFill>
        <p:spPr>
          <a:xfrm>
            <a:off x="6489336" y="936376"/>
            <a:ext cx="2276839" cy="1487399"/>
          </a:xfrm>
          <a:prstGeom prst="rect">
            <a:avLst/>
          </a:prstGeom>
          <a:noFill/>
          <a:ln>
            <a:noFill/>
          </a:ln>
        </p:spPr>
      </p:pic>
      <p:pic>
        <p:nvPicPr>
          <p:cNvPr descr="post_object_image_2663644167" id="133" name="Google Shape;133;p12"/>
          <p:cNvPicPr preferRelativeResize="0"/>
          <p:nvPr/>
        </p:nvPicPr>
        <p:blipFill rotWithShape="1">
          <a:blip r:embed="rId5">
            <a:alphaModFix/>
          </a:blip>
          <a:srcRect b="0" l="0" r="0" t="0"/>
          <a:stretch/>
        </p:blipFill>
        <p:spPr>
          <a:xfrm>
            <a:off x="4330192" y="2535437"/>
            <a:ext cx="4507547" cy="3871935"/>
          </a:xfrm>
          <a:prstGeom prst="rect">
            <a:avLst/>
          </a:prstGeom>
          <a:noFill/>
          <a:ln>
            <a:noFill/>
          </a:ln>
        </p:spPr>
      </p:pic>
      <p:sp>
        <p:nvSpPr>
          <p:cNvPr id="134" name="Google Shape;134;p12"/>
          <p:cNvSpPr txBox="1"/>
          <p:nvPr/>
        </p:nvSpPr>
        <p:spPr>
          <a:xfrm>
            <a:off x="167640" y="769938"/>
            <a:ext cx="5997575" cy="10452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400" u="none" cap="none" strike="noStrike">
                <a:solidFill>
                  <a:srgbClr val="0D47A1"/>
                </a:solidFill>
                <a:latin typeface="Arial"/>
                <a:ea typeface="Arial"/>
                <a:cs typeface="Arial"/>
                <a:sym typeface="Arial"/>
              </a:rPr>
              <a:t>Manual configuration</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Quản trị viên cấu hình trực tiếp qua GUI hoặc CLI trên Windows Server</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3"/>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4. PHƯƠNG PHÁP TRIỂN KHAI ( tt)</a:t>
            </a:r>
            <a:endParaRPr/>
          </a:p>
        </p:txBody>
      </p:sp>
      <p:pic>
        <p:nvPicPr>
          <p:cNvPr descr="post_object_image_3345805368" id="141" name="Google Shape;141;p13"/>
          <p:cNvPicPr preferRelativeResize="0"/>
          <p:nvPr/>
        </p:nvPicPr>
        <p:blipFill rotWithShape="1">
          <a:blip r:embed="rId3">
            <a:alphaModFix/>
          </a:blip>
          <a:srcRect b="0" l="0" r="0" t="0"/>
          <a:stretch/>
        </p:blipFill>
        <p:spPr>
          <a:xfrm>
            <a:off x="88265" y="1454770"/>
            <a:ext cx="3989586" cy="4952589"/>
          </a:xfrm>
          <a:prstGeom prst="rect">
            <a:avLst/>
          </a:prstGeom>
          <a:noFill/>
          <a:ln>
            <a:noFill/>
          </a:ln>
        </p:spPr>
      </p:pic>
      <p:sp>
        <p:nvSpPr>
          <p:cNvPr id="142" name="Google Shape;142;p13"/>
          <p:cNvSpPr txBox="1"/>
          <p:nvPr/>
        </p:nvSpPr>
        <p:spPr>
          <a:xfrm>
            <a:off x="4196715" y="1702435"/>
            <a:ext cx="4774565" cy="3067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Cách 1: Qua GUI</a:t>
            </a:r>
            <a:endParaRPr b="0" i="0" sz="1400" u="none" cap="none" strike="noStrike">
              <a:solidFill>
                <a:srgbClr val="000000"/>
              </a:solidFill>
              <a:latin typeface="Arial"/>
              <a:ea typeface="Arial"/>
              <a:cs typeface="Arial"/>
              <a:sym typeface="Arial"/>
            </a:endParaRPr>
          </a:p>
        </p:txBody>
      </p:sp>
      <p:sp>
        <p:nvSpPr>
          <p:cNvPr id="143" name="Google Shape;143;p13"/>
          <p:cNvSpPr txBox="1"/>
          <p:nvPr/>
        </p:nvSpPr>
        <p:spPr>
          <a:xfrm>
            <a:off x="167640" y="769938"/>
            <a:ext cx="5997575" cy="10452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400" u="none" cap="none" strike="noStrike">
                <a:solidFill>
                  <a:srgbClr val="0D47A1"/>
                </a:solidFill>
                <a:latin typeface="Arial"/>
                <a:ea typeface="Arial"/>
                <a:cs typeface="Arial"/>
                <a:sym typeface="Arial"/>
              </a:rPr>
              <a:t>Manual configuration</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Quản trị viên cấu hình trực tiếp qua GUI hoặc CLI trên Windows Server</a:t>
            </a:r>
            <a:endParaRPr b="0" i="0" sz="1400" u="none" cap="none" strike="noStrike">
              <a:solidFill>
                <a:srgbClr val="000000"/>
              </a:solidFill>
              <a:latin typeface="Arial"/>
              <a:ea typeface="Arial"/>
              <a:cs typeface="Arial"/>
              <a:sym typeface="Arial"/>
            </a:endParaRPr>
          </a:p>
        </p:txBody>
      </p:sp>
      <p:pic>
        <p:nvPicPr>
          <p:cNvPr descr="post_object_image_744061110" id="144" name="Google Shape;144;p13"/>
          <p:cNvPicPr preferRelativeResize="0"/>
          <p:nvPr/>
        </p:nvPicPr>
        <p:blipFill rotWithShape="1">
          <a:blip r:embed="rId4">
            <a:alphaModFix/>
          </a:blip>
          <a:srcRect b="0" l="0" r="0" t="0"/>
          <a:stretch/>
        </p:blipFill>
        <p:spPr>
          <a:xfrm>
            <a:off x="4139957" y="2210752"/>
            <a:ext cx="4917652" cy="316134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4"/>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4. PHƯƠNG PHÁP TRIỂN KHAI ( tt)</a:t>
            </a:r>
            <a:endParaRPr/>
          </a:p>
        </p:txBody>
      </p:sp>
      <p:pic>
        <p:nvPicPr>
          <p:cNvPr descr="post_object_image_3345805368" id="151" name="Google Shape;151;p14"/>
          <p:cNvPicPr preferRelativeResize="0"/>
          <p:nvPr/>
        </p:nvPicPr>
        <p:blipFill rotWithShape="1">
          <a:blip r:embed="rId3">
            <a:alphaModFix/>
          </a:blip>
          <a:srcRect b="0" l="0" r="0" t="0"/>
          <a:stretch/>
        </p:blipFill>
        <p:spPr>
          <a:xfrm>
            <a:off x="88265" y="1454770"/>
            <a:ext cx="3989586" cy="4952589"/>
          </a:xfrm>
          <a:prstGeom prst="rect">
            <a:avLst/>
          </a:prstGeom>
          <a:noFill/>
          <a:ln>
            <a:noFill/>
          </a:ln>
        </p:spPr>
      </p:pic>
      <p:sp>
        <p:nvSpPr>
          <p:cNvPr id="152" name="Google Shape;152;p14"/>
          <p:cNvSpPr txBox="1"/>
          <p:nvPr/>
        </p:nvSpPr>
        <p:spPr>
          <a:xfrm>
            <a:off x="4196715" y="1702435"/>
            <a:ext cx="4774565" cy="3067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Cách 2: Qua CLI</a:t>
            </a:r>
            <a:endParaRPr b="0" i="0" sz="1400" u="none" cap="none" strike="noStrike">
              <a:solidFill>
                <a:srgbClr val="000000"/>
              </a:solidFill>
              <a:latin typeface="Arial"/>
              <a:ea typeface="Arial"/>
              <a:cs typeface="Arial"/>
              <a:sym typeface="Arial"/>
            </a:endParaRPr>
          </a:p>
        </p:txBody>
      </p:sp>
      <p:sp>
        <p:nvSpPr>
          <p:cNvPr id="153" name="Google Shape;153;p14"/>
          <p:cNvSpPr txBox="1"/>
          <p:nvPr/>
        </p:nvSpPr>
        <p:spPr>
          <a:xfrm>
            <a:off x="167640" y="769938"/>
            <a:ext cx="5997575" cy="10452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400" u="none" cap="none" strike="noStrike">
                <a:solidFill>
                  <a:srgbClr val="0D47A1"/>
                </a:solidFill>
                <a:latin typeface="Arial"/>
                <a:ea typeface="Arial"/>
                <a:cs typeface="Arial"/>
                <a:sym typeface="Arial"/>
              </a:rPr>
              <a:t>Manual configuration</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Quản trị viên cấu hình trực tiếp qua GUI hoặc CLI trên Windows Server</a:t>
            </a:r>
            <a:endParaRPr b="0" i="0" sz="1400" u="none" cap="none" strike="noStrike">
              <a:solidFill>
                <a:srgbClr val="000000"/>
              </a:solidFill>
              <a:latin typeface="Arial"/>
              <a:ea typeface="Arial"/>
              <a:cs typeface="Arial"/>
              <a:sym typeface="Arial"/>
            </a:endParaRPr>
          </a:p>
        </p:txBody>
      </p:sp>
      <p:pic>
        <p:nvPicPr>
          <p:cNvPr descr="post_object_image_2711938032" id="154" name="Google Shape;154;p14"/>
          <p:cNvPicPr preferRelativeResize="0"/>
          <p:nvPr/>
        </p:nvPicPr>
        <p:blipFill rotWithShape="1">
          <a:blip r:embed="rId4">
            <a:alphaModFix/>
          </a:blip>
          <a:srcRect b="0" l="0" r="0" t="0"/>
          <a:stretch/>
        </p:blipFill>
        <p:spPr>
          <a:xfrm>
            <a:off x="4196715" y="2214562"/>
            <a:ext cx="4829175" cy="485775"/>
          </a:xfrm>
          <a:prstGeom prst="rect">
            <a:avLst/>
          </a:prstGeom>
          <a:noFill/>
          <a:ln>
            <a:noFill/>
          </a:ln>
        </p:spPr>
      </p:pic>
      <p:pic>
        <p:nvPicPr>
          <p:cNvPr descr="post_object_image_1554660432" id="155" name="Google Shape;155;p14"/>
          <p:cNvPicPr preferRelativeResize="0"/>
          <p:nvPr/>
        </p:nvPicPr>
        <p:blipFill rotWithShape="1">
          <a:blip r:embed="rId5">
            <a:alphaModFix/>
          </a:blip>
          <a:srcRect b="0" l="0" r="0" t="0"/>
          <a:stretch/>
        </p:blipFill>
        <p:spPr>
          <a:xfrm>
            <a:off x="4196715" y="3362325"/>
            <a:ext cx="4829175" cy="3619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5"/>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4. PHƯƠNG PHÁP TRIỂN KHAI ( tt)</a:t>
            </a:r>
            <a:endParaRPr/>
          </a:p>
        </p:txBody>
      </p:sp>
      <p:sp>
        <p:nvSpPr>
          <p:cNvPr id="162" name="Google Shape;162;p15"/>
          <p:cNvSpPr/>
          <p:nvPr/>
        </p:nvSpPr>
        <p:spPr>
          <a:xfrm>
            <a:off x="0" y="868680"/>
            <a:ext cx="9143365" cy="5479415"/>
          </a:xfrm>
          <a:prstGeom prst="rect">
            <a:avLst/>
          </a:prstGeom>
          <a:noFill/>
          <a:ln>
            <a:noFill/>
          </a:ln>
        </p:spPr>
        <p:txBody>
          <a:bodyPr anchorCtr="0" anchor="t" bIns="45700" lIns="91425" spcFirstLastPara="1" rIns="91425" wrap="square" tIns="45700">
            <a:normAutofit/>
          </a:bodyPr>
          <a:lstStyle/>
          <a:p>
            <a:pPr indent="0" lvl="0" marL="45720" marR="0" rtl="0" algn="just">
              <a:lnSpc>
                <a:spcPct val="90000"/>
              </a:lnSpc>
              <a:spcBef>
                <a:spcPts val="0"/>
              </a:spcBef>
              <a:spcAft>
                <a:spcPts val="0"/>
              </a:spcAft>
              <a:buClr>
                <a:srgbClr val="00A6E6"/>
              </a:buClr>
              <a:buSzPts val="2880"/>
              <a:buFont typeface="Courier New"/>
              <a:buNone/>
            </a:pPr>
            <a:r>
              <a:rPr b="1" i="0" lang="en-US" sz="2400" u="none" cap="none" strike="noStrike">
                <a:solidFill>
                  <a:srgbClr val="0D47A1"/>
                </a:solidFill>
                <a:latin typeface="Arial"/>
                <a:ea typeface="Arial"/>
                <a:cs typeface="Arial"/>
                <a:sym typeface="Arial"/>
              </a:rPr>
              <a:t>Automation configuration</a:t>
            </a:r>
            <a:endParaRPr b="1" i="0" sz="2400" u="none" cap="none" strike="noStrike">
              <a:solidFill>
                <a:srgbClr val="0D47A1"/>
              </a:solidFill>
              <a:latin typeface="Arial"/>
              <a:ea typeface="Arial"/>
              <a:cs typeface="Arial"/>
              <a:sym typeface="Arial"/>
            </a:endParaRPr>
          </a:p>
          <a:p>
            <a:pPr indent="0" lvl="0" marL="45720" marR="0" rtl="0" algn="just">
              <a:lnSpc>
                <a:spcPct val="90000"/>
              </a:lnSpc>
              <a:spcBef>
                <a:spcPts val="1000"/>
              </a:spcBef>
              <a:spcAft>
                <a:spcPts val="0"/>
              </a:spcAft>
              <a:buClr>
                <a:srgbClr val="00A6E6"/>
              </a:buClr>
              <a:buSzPts val="2880"/>
              <a:buFont typeface="Courier New"/>
              <a:buNone/>
            </a:pPr>
            <a:r>
              <a:rPr b="0" i="0" lang="en-US" sz="1400" u="none" cap="none" strike="noStrike">
                <a:solidFill>
                  <a:srgbClr val="000000"/>
                </a:solidFill>
                <a:latin typeface="Arial"/>
                <a:ea typeface="Arial"/>
                <a:cs typeface="Arial"/>
                <a:sym typeface="Arial"/>
              </a:rPr>
              <a:t>Dùng powershell scripting:</a:t>
            </a:r>
            <a:endParaRPr b="0" i="0" sz="2400" u="none" cap="none" strike="noStrike">
              <a:solidFill>
                <a:schemeClr val="dk1"/>
              </a:solidFill>
              <a:latin typeface="Arial"/>
              <a:ea typeface="Arial"/>
              <a:cs typeface="Arial"/>
              <a:sym typeface="Arial"/>
            </a:endParaRPr>
          </a:p>
        </p:txBody>
      </p:sp>
      <p:pic>
        <p:nvPicPr>
          <p:cNvPr descr="post_object_image_3615799780" id="163" name="Google Shape;163;p15"/>
          <p:cNvPicPr preferRelativeResize="0"/>
          <p:nvPr/>
        </p:nvPicPr>
        <p:blipFill rotWithShape="1">
          <a:blip r:embed="rId3">
            <a:alphaModFix/>
          </a:blip>
          <a:srcRect b="0" l="0" r="0" t="0"/>
          <a:stretch/>
        </p:blipFill>
        <p:spPr>
          <a:xfrm>
            <a:off x="252817" y="1689140"/>
            <a:ext cx="8637673" cy="440881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6"/>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4. PHƯƠNG PHÁP TRIỂN KHAI ( tt)</a:t>
            </a:r>
            <a:endParaRPr/>
          </a:p>
        </p:txBody>
      </p:sp>
      <p:sp>
        <p:nvSpPr>
          <p:cNvPr id="170" name="Google Shape;170;p16"/>
          <p:cNvSpPr/>
          <p:nvPr/>
        </p:nvSpPr>
        <p:spPr>
          <a:xfrm>
            <a:off x="0" y="868680"/>
            <a:ext cx="9143365" cy="5479415"/>
          </a:xfrm>
          <a:prstGeom prst="rect">
            <a:avLst/>
          </a:prstGeom>
          <a:noFill/>
          <a:ln>
            <a:noFill/>
          </a:ln>
        </p:spPr>
        <p:txBody>
          <a:bodyPr anchorCtr="0" anchor="t" bIns="45700" lIns="91425" spcFirstLastPara="1" rIns="91425" wrap="square" tIns="45700">
            <a:normAutofit/>
          </a:bodyPr>
          <a:lstStyle/>
          <a:p>
            <a:pPr indent="0" lvl="0" marL="45720" marR="0" rtl="0" algn="just">
              <a:lnSpc>
                <a:spcPct val="90000"/>
              </a:lnSpc>
              <a:spcBef>
                <a:spcPts val="0"/>
              </a:spcBef>
              <a:spcAft>
                <a:spcPts val="0"/>
              </a:spcAft>
              <a:buClr>
                <a:srgbClr val="00A6E6"/>
              </a:buClr>
              <a:buSzPts val="2880"/>
              <a:buFont typeface="Courier New"/>
              <a:buNone/>
            </a:pPr>
            <a:r>
              <a:rPr b="1" i="0" lang="en-US" sz="2400" u="none" cap="none" strike="noStrike">
                <a:solidFill>
                  <a:srgbClr val="0D47A1"/>
                </a:solidFill>
                <a:latin typeface="Arial"/>
                <a:ea typeface="Arial"/>
                <a:cs typeface="Arial"/>
                <a:sym typeface="Arial"/>
              </a:rPr>
              <a:t>Automation configuration</a:t>
            </a:r>
            <a:endParaRPr b="1" i="0" sz="2400" u="none" cap="none" strike="noStrike">
              <a:solidFill>
                <a:srgbClr val="0D47A1"/>
              </a:solidFill>
              <a:latin typeface="Arial"/>
              <a:ea typeface="Arial"/>
              <a:cs typeface="Arial"/>
              <a:sym typeface="Arial"/>
            </a:endParaRPr>
          </a:p>
          <a:p>
            <a:pPr indent="0" lvl="0" marL="45720" marR="0" rtl="0" algn="just">
              <a:lnSpc>
                <a:spcPct val="90000"/>
              </a:lnSpc>
              <a:spcBef>
                <a:spcPts val="1000"/>
              </a:spcBef>
              <a:spcAft>
                <a:spcPts val="0"/>
              </a:spcAft>
              <a:buClr>
                <a:srgbClr val="00A6E6"/>
              </a:buClr>
              <a:buSzPts val="2880"/>
              <a:buFont typeface="Courier New"/>
              <a:buNone/>
            </a:pPr>
            <a:r>
              <a:rPr b="0" i="0" lang="en-US" sz="1400" u="none" cap="none" strike="noStrike">
                <a:solidFill>
                  <a:srgbClr val="000000"/>
                </a:solidFill>
                <a:latin typeface="Arial"/>
                <a:ea typeface="Arial"/>
                <a:cs typeface="Arial"/>
                <a:sym typeface="Arial"/>
              </a:rPr>
              <a:t>Dùng powershell scripting:</a:t>
            </a:r>
            <a:endParaRPr b="0" i="0" sz="2400" u="none" cap="none" strike="noStrike">
              <a:solidFill>
                <a:schemeClr val="dk1"/>
              </a:solidFill>
              <a:latin typeface="Arial"/>
              <a:ea typeface="Arial"/>
              <a:cs typeface="Arial"/>
              <a:sym typeface="Arial"/>
            </a:endParaRPr>
          </a:p>
        </p:txBody>
      </p:sp>
      <p:pic>
        <p:nvPicPr>
          <p:cNvPr descr="post_object_image_844140273" id="171" name="Google Shape;171;p16"/>
          <p:cNvPicPr preferRelativeResize="0"/>
          <p:nvPr/>
        </p:nvPicPr>
        <p:blipFill rotWithShape="1">
          <a:blip r:embed="rId3">
            <a:alphaModFix/>
          </a:blip>
          <a:srcRect b="0" l="0" r="0" t="0"/>
          <a:stretch/>
        </p:blipFill>
        <p:spPr>
          <a:xfrm>
            <a:off x="474052" y="1704942"/>
            <a:ext cx="8195203" cy="45000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7"/>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4. PHƯƠNG PHÁP TRIỂN KHAI ( tt)</a:t>
            </a:r>
            <a:endParaRPr/>
          </a:p>
        </p:txBody>
      </p:sp>
      <p:sp>
        <p:nvSpPr>
          <p:cNvPr id="178" name="Google Shape;178;p17"/>
          <p:cNvSpPr/>
          <p:nvPr/>
        </p:nvSpPr>
        <p:spPr>
          <a:xfrm>
            <a:off x="0" y="868680"/>
            <a:ext cx="9143365" cy="5479415"/>
          </a:xfrm>
          <a:prstGeom prst="rect">
            <a:avLst/>
          </a:prstGeom>
          <a:noFill/>
          <a:ln>
            <a:noFill/>
          </a:ln>
        </p:spPr>
        <p:txBody>
          <a:bodyPr anchorCtr="0" anchor="t" bIns="45700" lIns="91425" spcFirstLastPara="1" rIns="91425" wrap="square" tIns="45700">
            <a:normAutofit/>
          </a:bodyPr>
          <a:lstStyle/>
          <a:p>
            <a:pPr indent="0" lvl="0" marL="45720" marR="0" rtl="0" algn="just">
              <a:lnSpc>
                <a:spcPct val="90000"/>
              </a:lnSpc>
              <a:spcBef>
                <a:spcPts val="0"/>
              </a:spcBef>
              <a:spcAft>
                <a:spcPts val="0"/>
              </a:spcAft>
              <a:buClr>
                <a:srgbClr val="00A6E6"/>
              </a:buClr>
              <a:buSzPts val="2880"/>
              <a:buFont typeface="Courier New"/>
              <a:buNone/>
            </a:pPr>
            <a:r>
              <a:rPr b="1" i="0" lang="en-US" sz="2400" u="none" cap="none" strike="noStrike">
                <a:solidFill>
                  <a:srgbClr val="0D47A1"/>
                </a:solidFill>
                <a:latin typeface="Arial"/>
                <a:ea typeface="Arial"/>
                <a:cs typeface="Arial"/>
                <a:sym typeface="Arial"/>
              </a:rPr>
              <a:t>Automation configuration</a:t>
            </a:r>
            <a:endParaRPr b="1" i="0" sz="2400" u="none" cap="none" strike="noStrike">
              <a:solidFill>
                <a:srgbClr val="0D47A1"/>
              </a:solidFill>
              <a:latin typeface="Arial"/>
              <a:ea typeface="Arial"/>
              <a:cs typeface="Arial"/>
              <a:sym typeface="Arial"/>
            </a:endParaRPr>
          </a:p>
          <a:p>
            <a:pPr indent="0" lvl="0" marL="45720" marR="0" rtl="0" algn="just">
              <a:lnSpc>
                <a:spcPct val="90000"/>
              </a:lnSpc>
              <a:spcBef>
                <a:spcPts val="1000"/>
              </a:spcBef>
              <a:spcAft>
                <a:spcPts val="0"/>
              </a:spcAft>
              <a:buClr>
                <a:srgbClr val="00A6E6"/>
              </a:buClr>
              <a:buSzPts val="2880"/>
              <a:buFont typeface="Courier New"/>
              <a:buNone/>
            </a:pPr>
            <a:r>
              <a:rPr b="0" i="0" lang="en-US" sz="1400" u="none" cap="none" strike="noStrike">
                <a:solidFill>
                  <a:srgbClr val="000000"/>
                </a:solidFill>
                <a:latin typeface="Arial"/>
                <a:ea typeface="Arial"/>
                <a:cs typeface="Arial"/>
                <a:sym typeface="Arial"/>
              </a:rPr>
              <a:t>Dùng powershell scripting:</a:t>
            </a:r>
            <a:endParaRPr b="0" i="0" sz="2400" u="none" cap="none" strike="noStrike">
              <a:solidFill>
                <a:schemeClr val="dk1"/>
              </a:solidFill>
              <a:latin typeface="Arial"/>
              <a:ea typeface="Arial"/>
              <a:cs typeface="Arial"/>
              <a:sym typeface="Arial"/>
            </a:endParaRPr>
          </a:p>
        </p:txBody>
      </p:sp>
      <p:pic>
        <p:nvPicPr>
          <p:cNvPr descr="post_object_image_1378383962" id="179" name="Google Shape;179;p17"/>
          <p:cNvPicPr preferRelativeResize="0"/>
          <p:nvPr/>
        </p:nvPicPr>
        <p:blipFill rotWithShape="1">
          <a:blip r:embed="rId3">
            <a:alphaModFix/>
          </a:blip>
          <a:srcRect b="0" l="0" r="0" t="0"/>
          <a:stretch/>
        </p:blipFill>
        <p:spPr>
          <a:xfrm>
            <a:off x="259689" y="2192048"/>
            <a:ext cx="8623928" cy="31058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8"/>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4. PHƯƠNG PHÁP TRIỂN KHAI ( tt)</a:t>
            </a:r>
            <a:endParaRPr/>
          </a:p>
        </p:txBody>
      </p:sp>
      <p:sp>
        <p:nvSpPr>
          <p:cNvPr id="186" name="Google Shape;186;p18"/>
          <p:cNvSpPr/>
          <p:nvPr/>
        </p:nvSpPr>
        <p:spPr>
          <a:xfrm>
            <a:off x="0" y="868680"/>
            <a:ext cx="9143365" cy="5479415"/>
          </a:xfrm>
          <a:prstGeom prst="rect">
            <a:avLst/>
          </a:prstGeom>
          <a:noFill/>
          <a:ln>
            <a:noFill/>
          </a:ln>
        </p:spPr>
        <p:txBody>
          <a:bodyPr anchorCtr="0" anchor="t" bIns="45700" lIns="91425" spcFirstLastPara="1" rIns="91425" wrap="square" tIns="45700">
            <a:normAutofit/>
          </a:bodyPr>
          <a:lstStyle/>
          <a:p>
            <a:pPr indent="0" lvl="0" marL="45720" marR="0" rtl="0" algn="just">
              <a:lnSpc>
                <a:spcPct val="90000"/>
              </a:lnSpc>
              <a:spcBef>
                <a:spcPts val="0"/>
              </a:spcBef>
              <a:spcAft>
                <a:spcPts val="0"/>
              </a:spcAft>
              <a:buClr>
                <a:srgbClr val="00A6E6"/>
              </a:buClr>
              <a:buSzPts val="2880"/>
              <a:buFont typeface="Courier New"/>
              <a:buNone/>
            </a:pPr>
            <a:r>
              <a:rPr b="1" i="0" lang="en-US" sz="2400" u="none" cap="none" strike="noStrike">
                <a:solidFill>
                  <a:srgbClr val="0D47A1"/>
                </a:solidFill>
                <a:latin typeface="Arial"/>
                <a:ea typeface="Arial"/>
                <a:cs typeface="Arial"/>
                <a:sym typeface="Arial"/>
              </a:rPr>
              <a:t>Automation configuration</a:t>
            </a:r>
            <a:endParaRPr b="1" i="0" sz="2400" u="none" cap="none" strike="noStrike">
              <a:solidFill>
                <a:srgbClr val="0D47A1"/>
              </a:solidFill>
              <a:latin typeface="Arial"/>
              <a:ea typeface="Arial"/>
              <a:cs typeface="Arial"/>
              <a:sym typeface="Arial"/>
            </a:endParaRPr>
          </a:p>
          <a:p>
            <a:pPr indent="0" lvl="0" marL="45720" marR="0" rtl="0" algn="just">
              <a:lnSpc>
                <a:spcPct val="90000"/>
              </a:lnSpc>
              <a:spcBef>
                <a:spcPts val="1000"/>
              </a:spcBef>
              <a:spcAft>
                <a:spcPts val="0"/>
              </a:spcAft>
              <a:buClr>
                <a:srgbClr val="00A6E6"/>
              </a:buClr>
              <a:buSzPts val="2880"/>
              <a:buFont typeface="Courier New"/>
              <a:buNone/>
            </a:pPr>
            <a:r>
              <a:rPr b="0" i="0" lang="en-US" sz="1400" u="none" cap="none" strike="noStrike">
                <a:solidFill>
                  <a:srgbClr val="000000"/>
                </a:solidFill>
                <a:latin typeface="Arial"/>
                <a:ea typeface="Arial"/>
                <a:cs typeface="Arial"/>
                <a:sym typeface="Arial"/>
              </a:rPr>
              <a:t>Dùng powershell scripting:</a:t>
            </a:r>
            <a:endParaRPr b="0" i="0" sz="2400" u="none" cap="none" strike="noStrike">
              <a:solidFill>
                <a:schemeClr val="dk1"/>
              </a:solidFill>
              <a:latin typeface="Arial"/>
              <a:ea typeface="Arial"/>
              <a:cs typeface="Arial"/>
              <a:sym typeface="Arial"/>
            </a:endParaRPr>
          </a:p>
        </p:txBody>
      </p:sp>
      <p:pic>
        <p:nvPicPr>
          <p:cNvPr descr="post_object_image_289530465" id="187" name="Google Shape;187;p18"/>
          <p:cNvPicPr preferRelativeResize="0"/>
          <p:nvPr/>
        </p:nvPicPr>
        <p:blipFill rotWithShape="1">
          <a:blip r:embed="rId3">
            <a:alphaModFix/>
          </a:blip>
          <a:srcRect b="0" l="0" r="0" t="0"/>
          <a:stretch/>
        </p:blipFill>
        <p:spPr>
          <a:xfrm>
            <a:off x="188291" y="2039076"/>
            <a:ext cx="8766726" cy="34701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9"/>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4. PHƯƠNG PHÁP TRIỂN KHAI ( tt)</a:t>
            </a:r>
            <a:endParaRPr/>
          </a:p>
        </p:txBody>
      </p:sp>
      <p:sp>
        <p:nvSpPr>
          <p:cNvPr id="194" name="Google Shape;194;p19"/>
          <p:cNvSpPr txBox="1"/>
          <p:nvPr/>
        </p:nvSpPr>
        <p:spPr>
          <a:xfrm>
            <a:off x="635" y="6037580"/>
            <a:ext cx="9165590" cy="30670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Hình 4.1 : Quy trình tự động hóa hardening bằng Ansible</a:t>
            </a:r>
            <a:endParaRPr b="0" i="0" sz="1400" u="none" cap="none" strike="noStrike">
              <a:solidFill>
                <a:srgbClr val="000000"/>
              </a:solidFill>
              <a:latin typeface="Arial"/>
              <a:ea typeface="Arial"/>
              <a:cs typeface="Arial"/>
              <a:sym typeface="Arial"/>
            </a:endParaRPr>
          </a:p>
        </p:txBody>
      </p:sp>
      <p:sp>
        <p:nvSpPr>
          <p:cNvPr id="195" name="Google Shape;195;p19"/>
          <p:cNvSpPr/>
          <p:nvPr/>
        </p:nvSpPr>
        <p:spPr>
          <a:xfrm>
            <a:off x="595" y="866735"/>
            <a:ext cx="9143365" cy="5479415"/>
          </a:xfrm>
          <a:prstGeom prst="rect">
            <a:avLst/>
          </a:prstGeom>
          <a:noFill/>
          <a:ln>
            <a:noFill/>
          </a:ln>
        </p:spPr>
        <p:txBody>
          <a:bodyPr anchorCtr="0" anchor="t" bIns="45700" lIns="91425" spcFirstLastPara="1" rIns="91425" wrap="square" tIns="45700">
            <a:normAutofit/>
          </a:bodyPr>
          <a:lstStyle/>
          <a:p>
            <a:pPr indent="0" lvl="0" marL="45720" marR="0" rtl="0" algn="just">
              <a:lnSpc>
                <a:spcPct val="90000"/>
              </a:lnSpc>
              <a:spcBef>
                <a:spcPts val="0"/>
              </a:spcBef>
              <a:spcAft>
                <a:spcPts val="0"/>
              </a:spcAft>
              <a:buClr>
                <a:srgbClr val="00A6E6"/>
              </a:buClr>
              <a:buSzPts val="2880"/>
              <a:buFont typeface="Courier New"/>
              <a:buNone/>
            </a:pPr>
            <a:r>
              <a:rPr b="1" i="0" lang="en-US" sz="2400" u="none" cap="none" strike="noStrike">
                <a:solidFill>
                  <a:srgbClr val="0D47A1"/>
                </a:solidFill>
                <a:latin typeface="Arial"/>
                <a:ea typeface="Arial"/>
                <a:cs typeface="Arial"/>
                <a:sym typeface="Arial"/>
              </a:rPr>
              <a:t>Automation configuration:</a:t>
            </a:r>
            <a:endParaRPr b="1" i="0" sz="2400" u="none" cap="none" strike="noStrike">
              <a:solidFill>
                <a:srgbClr val="0D47A1"/>
              </a:solidFill>
              <a:latin typeface="Arial"/>
              <a:ea typeface="Arial"/>
              <a:cs typeface="Arial"/>
              <a:sym typeface="Arial"/>
            </a:endParaRPr>
          </a:p>
          <a:p>
            <a:pPr indent="-411480" lvl="0" marL="457200" marR="0" rtl="0" algn="just">
              <a:lnSpc>
                <a:spcPct val="150000"/>
              </a:lnSpc>
              <a:spcBef>
                <a:spcPts val="1000"/>
              </a:spcBef>
              <a:spcAft>
                <a:spcPts val="0"/>
              </a:spcAft>
              <a:buClr>
                <a:srgbClr val="00A6E6"/>
              </a:buClr>
              <a:buSzPts val="2880"/>
              <a:buFont typeface="Courier New"/>
              <a:buChar char="o"/>
            </a:pPr>
            <a:r>
              <a:rPr b="0" i="0" lang="en-US" sz="1600" u="none" cap="none" strike="noStrike">
                <a:solidFill>
                  <a:srgbClr val="000000"/>
                </a:solidFill>
                <a:latin typeface="Arial"/>
                <a:ea typeface="Arial"/>
                <a:cs typeface="Arial"/>
                <a:sym typeface="Arial"/>
              </a:rPr>
              <a:t>Ansible được sử dụng để điều phối tập trung toàn bộ quy trình hardening trên nhiều máy.</a:t>
            </a:r>
            <a:endParaRPr b="0" i="0" sz="1600" u="none" cap="none" strike="noStrike">
              <a:solidFill>
                <a:srgbClr val="000000"/>
              </a:solidFill>
              <a:latin typeface="Arial"/>
              <a:ea typeface="Arial"/>
              <a:cs typeface="Arial"/>
              <a:sym typeface="Arial"/>
            </a:endParaRPr>
          </a:p>
        </p:txBody>
      </p:sp>
      <p:pic>
        <p:nvPicPr>
          <p:cNvPr descr="post_object_image_3467991220" id="196" name="Google Shape;196;p19"/>
          <p:cNvPicPr preferRelativeResize="0"/>
          <p:nvPr/>
        </p:nvPicPr>
        <p:blipFill rotWithShape="1">
          <a:blip r:embed="rId3">
            <a:alphaModFix/>
          </a:blip>
          <a:srcRect b="3241" l="5911" r="1414" t="7177"/>
          <a:stretch/>
        </p:blipFill>
        <p:spPr>
          <a:xfrm>
            <a:off x="595811" y="1770608"/>
            <a:ext cx="7952941" cy="426700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0"/>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5. KẾT QUẢ ĐẠT ĐƯỢC</a:t>
            </a:r>
            <a:endParaRPr/>
          </a:p>
        </p:txBody>
      </p:sp>
      <p:sp>
        <p:nvSpPr>
          <p:cNvPr id="203" name="Google Shape;203;p20"/>
          <p:cNvSpPr txBox="1"/>
          <p:nvPr/>
        </p:nvSpPr>
        <p:spPr>
          <a:xfrm>
            <a:off x="635" y="6115050"/>
            <a:ext cx="9143365" cy="30670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Hình 5.1: Kết quả cấu hình nhóm Identity và Access Controll</a:t>
            </a:r>
            <a:endParaRPr b="0" i="0" sz="1400" u="none" cap="none" strike="noStrike">
              <a:solidFill>
                <a:srgbClr val="000000"/>
              </a:solidFill>
              <a:latin typeface="Arial"/>
              <a:ea typeface="Arial"/>
              <a:cs typeface="Arial"/>
              <a:sym typeface="Arial"/>
            </a:endParaRPr>
          </a:p>
        </p:txBody>
      </p:sp>
      <p:sp>
        <p:nvSpPr>
          <p:cNvPr id="204" name="Google Shape;204;p20"/>
          <p:cNvSpPr/>
          <p:nvPr/>
        </p:nvSpPr>
        <p:spPr>
          <a:xfrm>
            <a:off x="635" y="861060"/>
            <a:ext cx="9143365" cy="413165"/>
          </a:xfrm>
          <a:prstGeom prst="rect">
            <a:avLst/>
          </a:prstGeom>
          <a:noFill/>
          <a:ln>
            <a:noFill/>
          </a:ln>
        </p:spPr>
        <p:txBody>
          <a:bodyPr anchorCtr="0" anchor="t" bIns="45700" lIns="91425" spcFirstLastPara="1" rIns="91425" wrap="square" tIns="45700">
            <a:normAutofit/>
          </a:bodyPr>
          <a:lstStyle/>
          <a:p>
            <a:pPr indent="0" lvl="0" marL="45720" marR="0" rtl="0" algn="just">
              <a:lnSpc>
                <a:spcPct val="90000"/>
              </a:lnSpc>
              <a:spcBef>
                <a:spcPts val="0"/>
              </a:spcBef>
              <a:spcAft>
                <a:spcPts val="0"/>
              </a:spcAft>
              <a:buClr>
                <a:srgbClr val="00A6E6"/>
              </a:buClr>
              <a:buSzPts val="2880"/>
              <a:buFont typeface="Courier New"/>
              <a:buNone/>
            </a:pPr>
            <a:r>
              <a:rPr b="1" i="0" lang="en-US" sz="2160" u="none" cap="none" strike="noStrike">
                <a:solidFill>
                  <a:srgbClr val="0D47A1"/>
                </a:solidFill>
                <a:latin typeface="Arial"/>
                <a:ea typeface="Arial"/>
                <a:cs typeface="Arial"/>
                <a:sym typeface="Arial"/>
              </a:rPr>
              <a:t>Kết quả </a:t>
            </a:r>
            <a:r>
              <a:rPr b="1" i="0" lang="en-US" sz="2160" u="none" cap="none" strike="noStrike">
                <a:solidFill>
                  <a:srgbClr val="0D47A1"/>
                </a:solidFill>
                <a:latin typeface="Arial"/>
                <a:ea typeface="Arial"/>
                <a:cs typeface="Arial"/>
                <a:sym typeface="Arial"/>
              </a:rPr>
              <a:t>cấu hình nhóm Identity và Access Controll</a:t>
            </a:r>
            <a:r>
              <a:rPr b="1" i="0" lang="en-US" sz="2160" u="none" cap="none" strike="noStrike">
                <a:solidFill>
                  <a:srgbClr val="0D47A1"/>
                </a:solidFill>
                <a:latin typeface="Arial"/>
                <a:ea typeface="Arial"/>
                <a:cs typeface="Arial"/>
                <a:sym typeface="Arial"/>
              </a:rPr>
              <a:t>:</a:t>
            </a:r>
            <a:endParaRPr b="0" i="0" sz="1440" u="none" cap="none" strike="noStrike">
              <a:solidFill>
                <a:srgbClr val="000000"/>
              </a:solidFill>
              <a:latin typeface="Arial"/>
              <a:ea typeface="Arial"/>
              <a:cs typeface="Arial"/>
              <a:sym typeface="Arial"/>
            </a:endParaRPr>
          </a:p>
        </p:txBody>
      </p:sp>
      <p:pic>
        <p:nvPicPr>
          <p:cNvPr id="205" name="Google Shape;205;p20"/>
          <p:cNvPicPr preferRelativeResize="0"/>
          <p:nvPr/>
        </p:nvPicPr>
        <p:blipFill rotWithShape="1">
          <a:blip r:embed="rId3">
            <a:alphaModFix/>
          </a:blip>
          <a:srcRect b="0" l="0" r="0" t="0"/>
          <a:stretch/>
        </p:blipFill>
        <p:spPr>
          <a:xfrm>
            <a:off x="617" y="1424073"/>
            <a:ext cx="9143418" cy="454449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1"/>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5. KẾT QUẢ ĐẠT ĐƯỢC ( tt)</a:t>
            </a:r>
            <a:endParaRPr/>
          </a:p>
        </p:txBody>
      </p:sp>
      <p:sp>
        <p:nvSpPr>
          <p:cNvPr id="212" name="Google Shape;212;p21"/>
          <p:cNvSpPr txBox="1"/>
          <p:nvPr/>
        </p:nvSpPr>
        <p:spPr>
          <a:xfrm>
            <a:off x="635" y="6115050"/>
            <a:ext cx="9143365" cy="30670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Hình 5.2: Kết quả cấu hình nhóm Network Services Security</a:t>
            </a:r>
            <a:endParaRPr b="0" i="0" sz="1400" u="none" cap="none" strike="noStrike">
              <a:solidFill>
                <a:srgbClr val="000000"/>
              </a:solidFill>
              <a:latin typeface="Arial"/>
              <a:ea typeface="Arial"/>
              <a:cs typeface="Arial"/>
              <a:sym typeface="Arial"/>
            </a:endParaRPr>
          </a:p>
        </p:txBody>
      </p:sp>
      <p:sp>
        <p:nvSpPr>
          <p:cNvPr id="213" name="Google Shape;213;p21"/>
          <p:cNvSpPr/>
          <p:nvPr/>
        </p:nvSpPr>
        <p:spPr>
          <a:xfrm>
            <a:off x="635" y="861060"/>
            <a:ext cx="9143365" cy="413165"/>
          </a:xfrm>
          <a:prstGeom prst="rect">
            <a:avLst/>
          </a:prstGeom>
          <a:noFill/>
          <a:ln>
            <a:noFill/>
          </a:ln>
        </p:spPr>
        <p:txBody>
          <a:bodyPr anchorCtr="0" anchor="t" bIns="45700" lIns="91425" spcFirstLastPara="1" rIns="91425" wrap="square" tIns="45700">
            <a:normAutofit/>
          </a:bodyPr>
          <a:lstStyle/>
          <a:p>
            <a:pPr indent="0" lvl="0" marL="45720" marR="0" rtl="0" algn="just">
              <a:lnSpc>
                <a:spcPct val="90000"/>
              </a:lnSpc>
              <a:spcBef>
                <a:spcPts val="0"/>
              </a:spcBef>
              <a:spcAft>
                <a:spcPts val="0"/>
              </a:spcAft>
              <a:buClr>
                <a:srgbClr val="00A6E6"/>
              </a:buClr>
              <a:buSzPts val="2880"/>
              <a:buFont typeface="Courier New"/>
              <a:buNone/>
            </a:pPr>
            <a:r>
              <a:rPr b="1" i="0" lang="en-US" sz="2160" u="none" cap="none" strike="noStrike">
                <a:solidFill>
                  <a:srgbClr val="0D47A1"/>
                </a:solidFill>
                <a:latin typeface="Arial"/>
                <a:ea typeface="Arial"/>
                <a:cs typeface="Arial"/>
                <a:sym typeface="Arial"/>
              </a:rPr>
              <a:t>Kết quả </a:t>
            </a:r>
            <a:r>
              <a:rPr b="1" i="0" lang="en-US" sz="2160" u="none" cap="none" strike="noStrike">
                <a:solidFill>
                  <a:srgbClr val="0D47A1"/>
                </a:solidFill>
                <a:latin typeface="Arial"/>
                <a:ea typeface="Arial"/>
                <a:cs typeface="Arial"/>
                <a:sym typeface="Arial"/>
              </a:rPr>
              <a:t>cấu hình nhóm </a:t>
            </a:r>
            <a:r>
              <a:rPr b="1" i="0" lang="en-US" sz="2160" u="none" cap="none" strike="noStrike">
                <a:solidFill>
                  <a:srgbClr val="0D47A1"/>
                </a:solidFill>
                <a:latin typeface="Arial"/>
                <a:ea typeface="Arial"/>
                <a:cs typeface="Arial"/>
                <a:sym typeface="Arial"/>
              </a:rPr>
              <a:t>Network Services Security:</a:t>
            </a:r>
            <a:endParaRPr b="0" i="0" sz="1440" u="none" cap="none" strike="noStrike">
              <a:solidFill>
                <a:srgbClr val="000000"/>
              </a:solidFill>
              <a:latin typeface="Arial"/>
              <a:ea typeface="Arial"/>
              <a:cs typeface="Arial"/>
              <a:sym typeface="Arial"/>
            </a:endParaRPr>
          </a:p>
        </p:txBody>
      </p:sp>
      <p:pic>
        <p:nvPicPr>
          <p:cNvPr id="214" name="Google Shape;214;p21"/>
          <p:cNvPicPr preferRelativeResize="0"/>
          <p:nvPr/>
        </p:nvPicPr>
        <p:blipFill rotWithShape="1">
          <a:blip r:embed="rId3">
            <a:alphaModFix/>
          </a:blip>
          <a:srcRect b="0" l="0" r="0" t="0"/>
          <a:stretch/>
        </p:blipFill>
        <p:spPr>
          <a:xfrm>
            <a:off x="617" y="1397629"/>
            <a:ext cx="9143418" cy="45853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2"/>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5. KẾT QUẢ ĐẠT ĐƯỢC ( tt)</a:t>
            </a:r>
            <a:endParaRPr/>
          </a:p>
        </p:txBody>
      </p:sp>
      <p:sp>
        <p:nvSpPr>
          <p:cNvPr id="221" name="Google Shape;221;p22"/>
          <p:cNvSpPr txBox="1"/>
          <p:nvPr/>
        </p:nvSpPr>
        <p:spPr>
          <a:xfrm>
            <a:off x="635" y="6115050"/>
            <a:ext cx="9143365" cy="30670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Hình 5.3: Kết quả cấu hình nhóm Auditing và Monitoring</a:t>
            </a:r>
            <a:endParaRPr b="0" i="0" sz="1400" u="none" cap="none" strike="noStrike">
              <a:solidFill>
                <a:srgbClr val="000000"/>
              </a:solidFill>
              <a:latin typeface="Arial"/>
              <a:ea typeface="Arial"/>
              <a:cs typeface="Arial"/>
              <a:sym typeface="Arial"/>
            </a:endParaRPr>
          </a:p>
        </p:txBody>
      </p:sp>
      <p:sp>
        <p:nvSpPr>
          <p:cNvPr id="222" name="Google Shape;222;p22"/>
          <p:cNvSpPr/>
          <p:nvPr/>
        </p:nvSpPr>
        <p:spPr>
          <a:xfrm>
            <a:off x="635" y="861060"/>
            <a:ext cx="9143365" cy="413165"/>
          </a:xfrm>
          <a:prstGeom prst="rect">
            <a:avLst/>
          </a:prstGeom>
          <a:noFill/>
          <a:ln>
            <a:noFill/>
          </a:ln>
        </p:spPr>
        <p:txBody>
          <a:bodyPr anchorCtr="0" anchor="t" bIns="45700" lIns="91425" spcFirstLastPara="1" rIns="91425" wrap="square" tIns="45700">
            <a:normAutofit/>
          </a:bodyPr>
          <a:lstStyle/>
          <a:p>
            <a:pPr indent="0" lvl="0" marL="45720" marR="0" rtl="0" algn="just">
              <a:lnSpc>
                <a:spcPct val="90000"/>
              </a:lnSpc>
              <a:spcBef>
                <a:spcPts val="0"/>
              </a:spcBef>
              <a:spcAft>
                <a:spcPts val="0"/>
              </a:spcAft>
              <a:buClr>
                <a:srgbClr val="00A6E6"/>
              </a:buClr>
              <a:buSzPts val="2880"/>
              <a:buFont typeface="Courier New"/>
              <a:buNone/>
            </a:pPr>
            <a:r>
              <a:rPr b="1" i="0" lang="en-US" sz="2160" u="none" cap="none" strike="noStrike">
                <a:solidFill>
                  <a:srgbClr val="0D47A1"/>
                </a:solidFill>
                <a:latin typeface="Arial"/>
                <a:ea typeface="Arial"/>
                <a:cs typeface="Arial"/>
                <a:sym typeface="Arial"/>
              </a:rPr>
              <a:t>Kết quả </a:t>
            </a:r>
            <a:r>
              <a:rPr b="1" i="0" lang="en-US" sz="2160" u="none" cap="none" strike="noStrike">
                <a:solidFill>
                  <a:srgbClr val="0D47A1"/>
                </a:solidFill>
                <a:latin typeface="Arial"/>
                <a:ea typeface="Arial"/>
                <a:cs typeface="Arial"/>
                <a:sym typeface="Arial"/>
              </a:rPr>
              <a:t>cấu hình nhóm Auditing và Monitoring</a:t>
            </a:r>
            <a:r>
              <a:rPr b="1" i="0" lang="en-US" sz="2160" u="none" cap="none" strike="noStrike">
                <a:solidFill>
                  <a:srgbClr val="0D47A1"/>
                </a:solidFill>
                <a:latin typeface="Arial"/>
                <a:ea typeface="Arial"/>
                <a:cs typeface="Arial"/>
                <a:sym typeface="Arial"/>
              </a:rPr>
              <a:t>:</a:t>
            </a:r>
            <a:endParaRPr b="0" i="0" sz="1440" u="none" cap="none" strike="noStrike">
              <a:solidFill>
                <a:srgbClr val="000000"/>
              </a:solidFill>
              <a:latin typeface="Arial"/>
              <a:ea typeface="Arial"/>
              <a:cs typeface="Arial"/>
              <a:sym typeface="Arial"/>
            </a:endParaRPr>
          </a:p>
        </p:txBody>
      </p:sp>
      <p:pic>
        <p:nvPicPr>
          <p:cNvPr id="223" name="Google Shape;223;p22"/>
          <p:cNvPicPr preferRelativeResize="0"/>
          <p:nvPr/>
        </p:nvPicPr>
        <p:blipFill rotWithShape="1">
          <a:blip r:embed="rId3">
            <a:alphaModFix/>
          </a:blip>
          <a:srcRect b="0" l="0" r="0" t="0"/>
          <a:stretch/>
        </p:blipFill>
        <p:spPr>
          <a:xfrm>
            <a:off x="606" y="1404111"/>
            <a:ext cx="9143394" cy="458530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3"/>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5. KẾT QUẢ ĐẠT ĐƯỢC ( tt)</a:t>
            </a:r>
            <a:endParaRPr/>
          </a:p>
        </p:txBody>
      </p:sp>
      <p:sp>
        <p:nvSpPr>
          <p:cNvPr id="230" name="Google Shape;230;p23"/>
          <p:cNvSpPr txBox="1"/>
          <p:nvPr/>
        </p:nvSpPr>
        <p:spPr>
          <a:xfrm>
            <a:off x="635" y="6115050"/>
            <a:ext cx="9143365" cy="30670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Hình 5.4: Kết quả cấu hình nhóm System Hardening và Antimalware</a:t>
            </a:r>
            <a:endParaRPr b="0" i="0" sz="1400" u="none" cap="none" strike="noStrike">
              <a:solidFill>
                <a:srgbClr val="000000"/>
              </a:solidFill>
              <a:latin typeface="Arial"/>
              <a:ea typeface="Arial"/>
              <a:cs typeface="Arial"/>
              <a:sym typeface="Arial"/>
            </a:endParaRPr>
          </a:p>
        </p:txBody>
      </p:sp>
      <p:sp>
        <p:nvSpPr>
          <p:cNvPr id="231" name="Google Shape;231;p23"/>
          <p:cNvSpPr/>
          <p:nvPr/>
        </p:nvSpPr>
        <p:spPr>
          <a:xfrm>
            <a:off x="635" y="861060"/>
            <a:ext cx="9143365" cy="413165"/>
          </a:xfrm>
          <a:prstGeom prst="rect">
            <a:avLst/>
          </a:prstGeom>
          <a:noFill/>
          <a:ln>
            <a:noFill/>
          </a:ln>
        </p:spPr>
        <p:txBody>
          <a:bodyPr anchorCtr="0" anchor="t" bIns="45700" lIns="91425" spcFirstLastPara="1" rIns="91425" wrap="square" tIns="45700">
            <a:normAutofit/>
          </a:bodyPr>
          <a:lstStyle/>
          <a:p>
            <a:pPr indent="0" lvl="0" marL="45720" marR="0" rtl="0" algn="just">
              <a:lnSpc>
                <a:spcPct val="90000"/>
              </a:lnSpc>
              <a:spcBef>
                <a:spcPts val="0"/>
              </a:spcBef>
              <a:spcAft>
                <a:spcPts val="0"/>
              </a:spcAft>
              <a:buClr>
                <a:srgbClr val="00A6E6"/>
              </a:buClr>
              <a:buSzPts val="2880"/>
              <a:buFont typeface="Courier New"/>
              <a:buNone/>
            </a:pPr>
            <a:r>
              <a:rPr b="1" i="0" lang="en-US" sz="2160" u="none" cap="none" strike="noStrike">
                <a:solidFill>
                  <a:srgbClr val="0D47A1"/>
                </a:solidFill>
                <a:latin typeface="Arial"/>
                <a:ea typeface="Arial"/>
                <a:cs typeface="Arial"/>
                <a:sym typeface="Arial"/>
              </a:rPr>
              <a:t>Kết quả </a:t>
            </a:r>
            <a:r>
              <a:rPr b="1" i="0" lang="en-US" sz="2160" u="none" cap="none" strike="noStrike">
                <a:solidFill>
                  <a:srgbClr val="0D47A1"/>
                </a:solidFill>
                <a:latin typeface="Arial"/>
                <a:ea typeface="Arial"/>
                <a:cs typeface="Arial"/>
                <a:sym typeface="Arial"/>
              </a:rPr>
              <a:t>cấu hình nhóm System Hardening và Antimalware</a:t>
            </a:r>
            <a:r>
              <a:rPr b="1" i="0" lang="en-US" sz="2160" u="none" cap="none" strike="noStrike">
                <a:solidFill>
                  <a:srgbClr val="0D47A1"/>
                </a:solidFill>
                <a:latin typeface="Arial"/>
                <a:ea typeface="Arial"/>
                <a:cs typeface="Arial"/>
                <a:sym typeface="Arial"/>
              </a:rPr>
              <a:t>:</a:t>
            </a:r>
            <a:endParaRPr b="0" i="0" sz="1440" u="none" cap="none" strike="noStrike">
              <a:solidFill>
                <a:srgbClr val="000000"/>
              </a:solidFill>
              <a:latin typeface="Arial"/>
              <a:ea typeface="Arial"/>
              <a:cs typeface="Arial"/>
              <a:sym typeface="Arial"/>
            </a:endParaRPr>
          </a:p>
        </p:txBody>
      </p:sp>
      <p:pic>
        <p:nvPicPr>
          <p:cNvPr id="232" name="Google Shape;232;p23"/>
          <p:cNvPicPr preferRelativeResize="0"/>
          <p:nvPr/>
        </p:nvPicPr>
        <p:blipFill rotWithShape="1">
          <a:blip r:embed="rId3">
            <a:alphaModFix/>
          </a:blip>
          <a:srcRect b="0" l="0" r="0" t="0"/>
          <a:stretch/>
        </p:blipFill>
        <p:spPr>
          <a:xfrm>
            <a:off x="606" y="1321493"/>
            <a:ext cx="9143394" cy="458530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4"/>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5. KẾT QUẢ ĐẠT ĐƯỢC ( tt)</a:t>
            </a:r>
            <a:endParaRPr/>
          </a:p>
        </p:txBody>
      </p:sp>
      <p:sp>
        <p:nvSpPr>
          <p:cNvPr id="239" name="Google Shape;239;p24"/>
          <p:cNvSpPr txBox="1"/>
          <p:nvPr/>
        </p:nvSpPr>
        <p:spPr>
          <a:xfrm>
            <a:off x="635" y="6115050"/>
            <a:ext cx="9143365" cy="30670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Hình 5.5: Kết quả đánh giá tuân thủ cấu hình trên Wazuh Dashboard</a:t>
            </a:r>
            <a:endParaRPr/>
          </a:p>
        </p:txBody>
      </p:sp>
      <p:sp>
        <p:nvSpPr>
          <p:cNvPr id="240" name="Google Shape;240;p24"/>
          <p:cNvSpPr/>
          <p:nvPr/>
        </p:nvSpPr>
        <p:spPr>
          <a:xfrm>
            <a:off x="635" y="861060"/>
            <a:ext cx="9143365" cy="906780"/>
          </a:xfrm>
          <a:prstGeom prst="rect">
            <a:avLst/>
          </a:prstGeom>
          <a:noFill/>
          <a:ln>
            <a:noFill/>
          </a:ln>
        </p:spPr>
        <p:txBody>
          <a:bodyPr anchorCtr="0" anchor="t" bIns="45700" lIns="91425" spcFirstLastPara="1" rIns="91425" wrap="square" tIns="45700">
            <a:normAutofit/>
          </a:bodyPr>
          <a:lstStyle/>
          <a:p>
            <a:pPr indent="0" lvl="0" marL="45720" marR="0" rtl="0" algn="just">
              <a:lnSpc>
                <a:spcPct val="80000"/>
              </a:lnSpc>
              <a:spcBef>
                <a:spcPts val="0"/>
              </a:spcBef>
              <a:spcAft>
                <a:spcPts val="0"/>
              </a:spcAft>
              <a:buClr>
                <a:srgbClr val="00A6E6"/>
              </a:buClr>
              <a:buSzPts val="2880"/>
              <a:buFont typeface="Courier New"/>
              <a:buNone/>
            </a:pPr>
            <a:r>
              <a:rPr b="1" i="0" lang="en-US" sz="2400" u="none" cap="none" strike="noStrike">
                <a:solidFill>
                  <a:srgbClr val="0D47A1"/>
                </a:solidFill>
                <a:latin typeface="Arial"/>
                <a:ea typeface="Arial"/>
                <a:cs typeface="Arial"/>
                <a:sym typeface="Arial"/>
              </a:rPr>
              <a:t>Kết quả giám sát và đánh giá tuân thủ cấu hình bằng Wazuh:</a:t>
            </a:r>
            <a:endParaRPr b="1" i="0" sz="2400" u="none" cap="none" strike="noStrike">
              <a:solidFill>
                <a:srgbClr val="0D47A1"/>
              </a:solidFill>
              <a:latin typeface="Arial"/>
              <a:ea typeface="Arial"/>
              <a:cs typeface="Arial"/>
              <a:sym typeface="Arial"/>
            </a:endParaRPr>
          </a:p>
          <a:p>
            <a:pPr indent="-411480" lvl="0" marL="457200" marR="0" rtl="0" algn="just">
              <a:lnSpc>
                <a:spcPct val="140000"/>
              </a:lnSpc>
              <a:spcBef>
                <a:spcPts val="1000"/>
              </a:spcBef>
              <a:spcAft>
                <a:spcPts val="0"/>
              </a:spcAft>
              <a:buClr>
                <a:srgbClr val="00A6E6"/>
              </a:buClr>
              <a:buSzPts val="2880"/>
              <a:buFont typeface="Courier New"/>
              <a:buChar char="o"/>
            </a:pPr>
            <a:r>
              <a:rPr b="0" i="0" lang="en-US" sz="1600" u="none" cap="none" strike="noStrike">
                <a:solidFill>
                  <a:srgbClr val="000000"/>
                </a:solidFill>
                <a:latin typeface="Arial"/>
                <a:ea typeface="Arial"/>
                <a:cs typeface="Arial"/>
                <a:sym typeface="Arial"/>
              </a:rPr>
              <a:t>Giao diện giám sát bảo mật trên Wazuh Dashboard</a:t>
            </a:r>
            <a:endParaRPr b="0" i="0" sz="1600" u="none" cap="none" strike="noStrike">
              <a:solidFill>
                <a:srgbClr val="000000"/>
              </a:solidFill>
              <a:latin typeface="Arial"/>
              <a:ea typeface="Arial"/>
              <a:cs typeface="Arial"/>
              <a:sym typeface="Arial"/>
            </a:endParaRPr>
          </a:p>
        </p:txBody>
      </p:sp>
      <p:pic>
        <p:nvPicPr>
          <p:cNvPr id="241" name="Google Shape;241;p24"/>
          <p:cNvPicPr preferRelativeResize="0"/>
          <p:nvPr/>
        </p:nvPicPr>
        <p:blipFill rotWithShape="1">
          <a:blip r:embed="rId3">
            <a:alphaModFix/>
          </a:blip>
          <a:srcRect b="0" l="0" r="0" t="0"/>
          <a:stretch/>
        </p:blipFill>
        <p:spPr>
          <a:xfrm>
            <a:off x="248027" y="1713619"/>
            <a:ext cx="8648510" cy="440147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5"/>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5. KẾT QUẢ ĐẠT ĐƯỢC ( tt)</a:t>
            </a:r>
            <a:endParaRPr/>
          </a:p>
        </p:txBody>
      </p:sp>
      <p:sp>
        <p:nvSpPr>
          <p:cNvPr id="248" name="Google Shape;248;p25"/>
          <p:cNvSpPr txBox="1"/>
          <p:nvPr/>
        </p:nvSpPr>
        <p:spPr>
          <a:xfrm>
            <a:off x="635" y="6115050"/>
            <a:ext cx="9143365" cy="30670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Hình 5.6: Kết quả tổng hợp và chi tiết kiểm định bằng HardeningKitty</a:t>
            </a:r>
            <a:endParaRPr/>
          </a:p>
        </p:txBody>
      </p:sp>
      <p:sp>
        <p:nvSpPr>
          <p:cNvPr id="249" name="Google Shape;249;p25"/>
          <p:cNvSpPr/>
          <p:nvPr/>
        </p:nvSpPr>
        <p:spPr>
          <a:xfrm>
            <a:off x="635" y="861060"/>
            <a:ext cx="9143365" cy="765810"/>
          </a:xfrm>
          <a:prstGeom prst="rect">
            <a:avLst/>
          </a:prstGeom>
          <a:noFill/>
          <a:ln>
            <a:noFill/>
          </a:ln>
        </p:spPr>
        <p:txBody>
          <a:bodyPr anchorCtr="0" anchor="t" bIns="45700" lIns="91425" spcFirstLastPara="1" rIns="91425" wrap="square" tIns="45700">
            <a:normAutofit/>
          </a:bodyPr>
          <a:lstStyle/>
          <a:p>
            <a:pPr indent="0" lvl="0" marL="45720" marR="0" rtl="0" algn="just">
              <a:lnSpc>
                <a:spcPct val="90000"/>
              </a:lnSpc>
              <a:spcBef>
                <a:spcPts val="0"/>
              </a:spcBef>
              <a:spcAft>
                <a:spcPts val="0"/>
              </a:spcAft>
              <a:buClr>
                <a:srgbClr val="00A6E6"/>
              </a:buClr>
              <a:buSzPts val="2880"/>
              <a:buFont typeface="Courier New"/>
              <a:buNone/>
            </a:pPr>
            <a:r>
              <a:rPr b="1" i="0" lang="en-US" sz="1680" u="none" cap="none" strike="noStrike">
                <a:solidFill>
                  <a:srgbClr val="0D47A1"/>
                </a:solidFill>
                <a:latin typeface="Arial"/>
                <a:ea typeface="Arial"/>
                <a:cs typeface="Arial"/>
                <a:sym typeface="Arial"/>
              </a:rPr>
              <a:t>Kết quả kiểm định cấu hình bằng HardeningKitty:</a:t>
            </a:r>
            <a:endParaRPr b="1" i="0" sz="1680" u="none" cap="none" strike="noStrike">
              <a:solidFill>
                <a:srgbClr val="0D47A1"/>
              </a:solidFill>
              <a:latin typeface="Arial"/>
              <a:ea typeface="Arial"/>
              <a:cs typeface="Arial"/>
              <a:sym typeface="Arial"/>
            </a:endParaRPr>
          </a:p>
          <a:p>
            <a:pPr indent="-411480" lvl="0" marL="457200" marR="0" rtl="0" algn="just">
              <a:lnSpc>
                <a:spcPct val="150000"/>
              </a:lnSpc>
              <a:spcBef>
                <a:spcPts val="1000"/>
              </a:spcBef>
              <a:spcAft>
                <a:spcPts val="0"/>
              </a:spcAft>
              <a:buClr>
                <a:srgbClr val="00A6E6"/>
              </a:buClr>
              <a:buSzPts val="2880"/>
              <a:buFont typeface="Courier New"/>
              <a:buChar char="o"/>
            </a:pPr>
            <a:r>
              <a:rPr b="0" i="0" lang="en-US" sz="1120" u="none" cap="none" strike="noStrike">
                <a:solidFill>
                  <a:srgbClr val="000000"/>
                </a:solidFill>
                <a:latin typeface="Arial"/>
                <a:ea typeface="Arial"/>
                <a:cs typeface="Arial"/>
                <a:sym typeface="Arial"/>
              </a:rPr>
              <a:t>Kết quả kiểm định cấu hình hardening bằng HardeningKitty trên Node dc01.</a:t>
            </a:r>
            <a:endParaRPr b="0" i="0" sz="1120" u="none" cap="none" strike="noStrike">
              <a:solidFill>
                <a:srgbClr val="000000"/>
              </a:solidFill>
              <a:latin typeface="Arial"/>
              <a:ea typeface="Arial"/>
              <a:cs typeface="Arial"/>
              <a:sym typeface="Arial"/>
            </a:endParaRPr>
          </a:p>
        </p:txBody>
      </p:sp>
      <p:pic>
        <p:nvPicPr>
          <p:cNvPr id="250" name="Google Shape;250;p25"/>
          <p:cNvPicPr preferRelativeResize="0"/>
          <p:nvPr/>
        </p:nvPicPr>
        <p:blipFill rotWithShape="1">
          <a:blip r:embed="rId3">
            <a:alphaModFix/>
          </a:blip>
          <a:srcRect b="0" l="0" r="0" t="0"/>
          <a:stretch/>
        </p:blipFill>
        <p:spPr>
          <a:xfrm>
            <a:off x="44450" y="1626870"/>
            <a:ext cx="8947150" cy="1029335"/>
          </a:xfrm>
          <a:prstGeom prst="rect">
            <a:avLst/>
          </a:prstGeom>
          <a:noFill/>
          <a:ln>
            <a:noFill/>
          </a:ln>
        </p:spPr>
      </p:pic>
      <p:pic>
        <p:nvPicPr>
          <p:cNvPr id="251" name="Google Shape;251;p25"/>
          <p:cNvPicPr preferRelativeResize="0"/>
          <p:nvPr/>
        </p:nvPicPr>
        <p:blipFill rotWithShape="1">
          <a:blip r:embed="rId4">
            <a:alphaModFix/>
          </a:blip>
          <a:srcRect b="0" l="0" r="0" t="0"/>
          <a:stretch/>
        </p:blipFill>
        <p:spPr>
          <a:xfrm>
            <a:off x="151765" y="2466975"/>
            <a:ext cx="8839835" cy="36480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6"/>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6. DEMO </a:t>
            </a:r>
            <a:endParaRPr/>
          </a:p>
        </p:txBody>
      </p:sp>
      <p:sp>
        <p:nvSpPr>
          <p:cNvPr id="258" name="Google Shape;258;p26"/>
          <p:cNvSpPr txBox="1"/>
          <p:nvPr>
            <p:ph idx="1" type="body"/>
          </p:nvPr>
        </p:nvSpPr>
        <p:spPr>
          <a:xfrm>
            <a:off x="167641" y="991061"/>
            <a:ext cx="8808244" cy="5130800"/>
          </a:xfrm>
          <a:prstGeom prst="rect">
            <a:avLst/>
          </a:prstGeom>
          <a:noFill/>
          <a:ln>
            <a:noFill/>
          </a:ln>
        </p:spPr>
        <p:txBody>
          <a:bodyPr anchorCtr="0" anchor="t" bIns="45700" lIns="91425" spcFirstLastPara="1" rIns="91425" wrap="square" tIns="45700">
            <a:normAutofit/>
          </a:bodyPr>
          <a:lstStyle/>
          <a:p>
            <a:pPr indent="-411480" lvl="0" marL="457200" rtl="0" algn="just">
              <a:lnSpc>
                <a:spcPct val="90000"/>
              </a:lnSpc>
              <a:spcBef>
                <a:spcPts val="1000"/>
              </a:spcBef>
              <a:spcAft>
                <a:spcPts val="0"/>
              </a:spcAft>
              <a:buSzPts val="2880"/>
              <a:buFont typeface="Arial"/>
              <a:buChar char="•"/>
            </a:pPr>
            <a:r>
              <a:rPr lang="en-US" sz="1800"/>
              <a:t>Thực hiện triển khai cơ sở hạ tầng sử dụng IaC</a:t>
            </a:r>
            <a:endParaRPr sz="1800"/>
          </a:p>
          <a:p>
            <a:pPr indent="-411480" lvl="0" marL="457200" rtl="0" algn="just">
              <a:lnSpc>
                <a:spcPct val="90000"/>
              </a:lnSpc>
              <a:spcBef>
                <a:spcPts val="1000"/>
              </a:spcBef>
              <a:spcAft>
                <a:spcPts val="0"/>
              </a:spcAft>
              <a:buSzPts val="2880"/>
              <a:buFont typeface="Arial"/>
              <a:buChar char="•"/>
            </a:pPr>
            <a:r>
              <a:rPr lang="en-US" sz="1800">
                <a:solidFill>
                  <a:schemeClr val="dk1"/>
                </a:solidFill>
                <a:latin typeface="Arial"/>
                <a:ea typeface="Arial"/>
                <a:cs typeface="Arial"/>
                <a:sym typeface="Arial"/>
              </a:rPr>
              <a:t>Triển khai vòng đời bảo mật hoàn chỉnh sử dụng Ansible</a:t>
            </a:r>
            <a:endParaRPr sz="1800">
              <a:solidFill>
                <a:schemeClr val="dk1"/>
              </a:solidFill>
              <a:latin typeface="Arial"/>
              <a:ea typeface="Arial"/>
              <a:cs typeface="Arial"/>
              <a:sym typeface="Arial"/>
            </a:endParaRPr>
          </a:p>
          <a:p>
            <a:pPr indent="-411480" lvl="0" marL="457200" rtl="0" algn="just">
              <a:lnSpc>
                <a:spcPct val="90000"/>
              </a:lnSpc>
              <a:spcBef>
                <a:spcPts val="1000"/>
              </a:spcBef>
              <a:spcAft>
                <a:spcPts val="0"/>
              </a:spcAft>
              <a:buSzPts val="2880"/>
              <a:buFont typeface="Arial"/>
              <a:buChar char="•"/>
            </a:pPr>
            <a:r>
              <a:rPr lang="en-US" sz="1800">
                <a:solidFill>
                  <a:schemeClr val="dk1"/>
                </a:solidFill>
                <a:latin typeface="Arial"/>
                <a:ea typeface="Arial"/>
                <a:cs typeface="Arial"/>
                <a:sym typeface="Arial"/>
              </a:rPr>
              <a:t>Cấu hình giám sát bảo mật định kì sử dụng Wazuh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7"/>
          <p:cNvSpPr txBox="1"/>
          <p:nvPr>
            <p:ph type="title"/>
          </p:nvPr>
        </p:nvSpPr>
        <p:spPr>
          <a:xfrm>
            <a:off x="167641" y="0"/>
            <a:ext cx="7954328" cy="9956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Arial"/>
              <a:buNone/>
            </a:pPr>
            <a:r>
              <a:rPr lang="en-US"/>
              <a:t>7. KẾT LUẬN </a:t>
            </a:r>
            <a:endParaRPr/>
          </a:p>
        </p:txBody>
      </p:sp>
      <p:sp>
        <p:nvSpPr>
          <p:cNvPr id="265" name="Google Shape;265;p27"/>
          <p:cNvSpPr txBox="1"/>
          <p:nvPr/>
        </p:nvSpPr>
        <p:spPr>
          <a:xfrm>
            <a:off x="1864638" y="2161084"/>
            <a:ext cx="1378982" cy="910114"/>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b="1" i="0" lang="en-US" sz="1600" u="none" cap="none" strike="noStrike">
                <a:solidFill>
                  <a:srgbClr val="000000"/>
                </a:solidFill>
                <a:latin typeface="Arial"/>
                <a:ea typeface="Arial"/>
                <a:cs typeface="Arial"/>
                <a:sym typeface="Arial"/>
              </a:rPr>
              <a:t>Manual </a:t>
            </a:r>
            <a:endParaRPr b="1" i="0" sz="16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None/>
            </a:pPr>
            <a:r>
              <a:rPr b="0" i="0" lang="en-US" sz="1600" u="none" cap="none" strike="noStrike">
                <a:solidFill>
                  <a:srgbClr val="000000"/>
                </a:solidFill>
                <a:latin typeface="Arial"/>
                <a:ea typeface="Arial"/>
                <a:cs typeface="Arial"/>
                <a:sym typeface="Arial"/>
              </a:rPr>
              <a:t>CLI</a:t>
            </a:r>
            <a:endParaRPr b="0" i="0" sz="16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None/>
            </a:pPr>
            <a:r>
              <a:rPr b="0" i="0" lang="en-US" sz="1600" u="none" cap="none" strike="noStrike">
                <a:solidFill>
                  <a:srgbClr val="000000"/>
                </a:solidFill>
                <a:latin typeface="Arial"/>
                <a:ea typeface="Arial"/>
                <a:cs typeface="Arial"/>
                <a:sym typeface="Arial"/>
              </a:rPr>
              <a:t>GUI</a:t>
            </a:r>
            <a:endParaRPr b="0" i="0" sz="1600" u="none" cap="none" strike="noStrike">
              <a:solidFill>
                <a:srgbClr val="000000"/>
              </a:solidFill>
              <a:latin typeface="Arial"/>
              <a:ea typeface="Arial"/>
              <a:cs typeface="Arial"/>
              <a:sym typeface="Arial"/>
            </a:endParaRPr>
          </a:p>
        </p:txBody>
      </p:sp>
      <p:sp>
        <p:nvSpPr>
          <p:cNvPr id="266" name="Google Shape;266;p27"/>
          <p:cNvSpPr txBox="1"/>
          <p:nvPr/>
        </p:nvSpPr>
        <p:spPr>
          <a:xfrm>
            <a:off x="3517463" y="1714817"/>
            <a:ext cx="3101340" cy="33909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Automation </a:t>
            </a:r>
            <a:endParaRPr b="1" i="0" sz="1600" u="none" cap="none" strike="noStrike">
              <a:solidFill>
                <a:srgbClr val="000000"/>
              </a:solidFill>
              <a:latin typeface="Arial"/>
              <a:ea typeface="Arial"/>
              <a:cs typeface="Arial"/>
              <a:sym typeface="Arial"/>
            </a:endParaRPr>
          </a:p>
        </p:txBody>
      </p:sp>
      <p:pic>
        <p:nvPicPr>
          <p:cNvPr descr="post_object_image_2048872710" id="267" name="Google Shape;267;p27"/>
          <p:cNvPicPr preferRelativeResize="0"/>
          <p:nvPr/>
        </p:nvPicPr>
        <p:blipFill rotWithShape="1">
          <a:blip r:embed="rId3">
            <a:alphaModFix/>
          </a:blip>
          <a:srcRect b="9727" l="0" r="9727" t="0"/>
          <a:stretch/>
        </p:blipFill>
        <p:spPr>
          <a:xfrm>
            <a:off x="3724270" y="2023365"/>
            <a:ext cx="2687712" cy="1419848"/>
          </a:xfrm>
          <a:prstGeom prst="rect">
            <a:avLst/>
          </a:prstGeom>
          <a:noFill/>
          <a:ln>
            <a:noFill/>
          </a:ln>
        </p:spPr>
      </p:pic>
      <p:sp>
        <p:nvSpPr>
          <p:cNvPr id="268" name="Google Shape;268;p27"/>
          <p:cNvSpPr/>
          <p:nvPr/>
        </p:nvSpPr>
        <p:spPr>
          <a:xfrm>
            <a:off x="3517424" y="1608931"/>
            <a:ext cx="3101340" cy="1872827"/>
          </a:xfrm>
          <a:prstGeom prst="roundRect">
            <a:avLst>
              <a:gd fmla="val 16667" name="adj"/>
            </a:avLst>
          </a:prstGeom>
          <a:noFill/>
          <a:ln cap="flat" cmpd="sng" w="25400">
            <a:solidFill>
              <a:srgbClr val="09357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9" name="Google Shape;269;p27"/>
          <p:cNvSpPr/>
          <p:nvPr/>
        </p:nvSpPr>
        <p:spPr>
          <a:xfrm>
            <a:off x="2757041" y="3821690"/>
            <a:ext cx="3101340" cy="1872827"/>
          </a:xfrm>
          <a:prstGeom prst="roundRect">
            <a:avLst>
              <a:gd fmla="val 16667" name="adj"/>
            </a:avLst>
          </a:prstGeom>
          <a:noFill/>
          <a:ln cap="flat" cmpd="sng" w="25400">
            <a:solidFill>
              <a:srgbClr val="09357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27"/>
          <p:cNvSpPr/>
          <p:nvPr/>
        </p:nvSpPr>
        <p:spPr>
          <a:xfrm>
            <a:off x="6396211" y="3821690"/>
            <a:ext cx="2576859" cy="1872827"/>
          </a:xfrm>
          <a:prstGeom prst="roundRect">
            <a:avLst>
              <a:gd fmla="val 16667" name="adj"/>
            </a:avLst>
          </a:prstGeom>
          <a:noFill/>
          <a:ln cap="flat" cmpd="sng" w="25400">
            <a:solidFill>
              <a:srgbClr val="09357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27"/>
          <p:cNvSpPr/>
          <p:nvPr/>
        </p:nvSpPr>
        <p:spPr>
          <a:xfrm>
            <a:off x="1864664" y="1608892"/>
            <a:ext cx="1355090" cy="1872853"/>
          </a:xfrm>
          <a:prstGeom prst="roundRect">
            <a:avLst>
              <a:gd fmla="val 16667" name="adj"/>
            </a:avLst>
          </a:prstGeom>
          <a:noFill/>
          <a:ln cap="flat" cmpd="sng" w="25400">
            <a:solidFill>
              <a:srgbClr val="09357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 name="Google Shape;272;p27"/>
          <p:cNvSpPr txBox="1"/>
          <p:nvPr/>
        </p:nvSpPr>
        <p:spPr>
          <a:xfrm>
            <a:off x="6303767" y="4005019"/>
            <a:ext cx="2756927" cy="30861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Tool validate</a:t>
            </a:r>
            <a:endParaRPr b="1" i="0" sz="1600" u="none" cap="none" strike="noStrike">
              <a:solidFill>
                <a:srgbClr val="000000"/>
              </a:solidFill>
              <a:latin typeface="Arial"/>
              <a:ea typeface="Arial"/>
              <a:cs typeface="Arial"/>
              <a:sym typeface="Arial"/>
            </a:endParaRPr>
          </a:p>
        </p:txBody>
      </p:sp>
      <p:sp>
        <p:nvSpPr>
          <p:cNvPr id="273" name="Google Shape;273;p27"/>
          <p:cNvSpPr/>
          <p:nvPr/>
        </p:nvSpPr>
        <p:spPr>
          <a:xfrm>
            <a:off x="6935946" y="1608931"/>
            <a:ext cx="1925955" cy="1872827"/>
          </a:xfrm>
          <a:prstGeom prst="roundRect">
            <a:avLst>
              <a:gd fmla="val 16667" name="adj"/>
            </a:avLst>
          </a:prstGeom>
          <a:noFill/>
          <a:ln cap="flat" cmpd="sng" w="25400">
            <a:solidFill>
              <a:srgbClr val="09357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27"/>
          <p:cNvSpPr txBox="1"/>
          <p:nvPr/>
        </p:nvSpPr>
        <p:spPr>
          <a:xfrm>
            <a:off x="6896259" y="1714818"/>
            <a:ext cx="1965682" cy="33909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Centralized Management</a:t>
            </a:r>
            <a:endParaRPr b="1" i="0" sz="1600" u="none" cap="none" strike="noStrike">
              <a:solidFill>
                <a:srgbClr val="000000"/>
              </a:solidFill>
              <a:latin typeface="Arial"/>
              <a:ea typeface="Arial"/>
              <a:cs typeface="Arial"/>
              <a:sym typeface="Arial"/>
            </a:endParaRPr>
          </a:p>
        </p:txBody>
      </p:sp>
      <p:pic>
        <p:nvPicPr>
          <p:cNvPr descr="post_object_image_952695966" id="275" name="Google Shape;275;p27"/>
          <p:cNvPicPr preferRelativeResize="0"/>
          <p:nvPr/>
        </p:nvPicPr>
        <p:blipFill rotWithShape="1">
          <a:blip r:embed="rId4">
            <a:alphaModFix/>
          </a:blip>
          <a:srcRect b="0" l="0" r="0" t="0"/>
          <a:stretch/>
        </p:blipFill>
        <p:spPr>
          <a:xfrm>
            <a:off x="7294483" y="2339110"/>
            <a:ext cx="1169194" cy="923908"/>
          </a:xfrm>
          <a:prstGeom prst="rect">
            <a:avLst/>
          </a:prstGeom>
          <a:noFill/>
          <a:ln>
            <a:noFill/>
          </a:ln>
        </p:spPr>
      </p:pic>
      <p:pic>
        <p:nvPicPr>
          <p:cNvPr descr="post_object_image_2270420665" id="276" name="Google Shape;276;p27"/>
          <p:cNvPicPr preferRelativeResize="0"/>
          <p:nvPr/>
        </p:nvPicPr>
        <p:blipFill rotWithShape="1">
          <a:blip r:embed="rId5">
            <a:alphaModFix/>
          </a:blip>
          <a:srcRect b="0" l="0" r="0" t="0"/>
          <a:stretch/>
        </p:blipFill>
        <p:spPr>
          <a:xfrm>
            <a:off x="7131501" y="4313550"/>
            <a:ext cx="1101566" cy="1161341"/>
          </a:xfrm>
          <a:prstGeom prst="rect">
            <a:avLst/>
          </a:prstGeom>
          <a:noFill/>
          <a:ln>
            <a:noFill/>
          </a:ln>
        </p:spPr>
      </p:pic>
      <p:sp>
        <p:nvSpPr>
          <p:cNvPr id="277" name="Google Shape;277;p27"/>
          <p:cNvSpPr txBox="1"/>
          <p:nvPr/>
        </p:nvSpPr>
        <p:spPr>
          <a:xfrm>
            <a:off x="2929247" y="4005046"/>
            <a:ext cx="2756927" cy="30861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Continuous Monitoring</a:t>
            </a:r>
            <a:endParaRPr b="1" i="0" sz="1600" u="none" cap="none" strike="noStrike">
              <a:solidFill>
                <a:srgbClr val="000000"/>
              </a:solidFill>
              <a:latin typeface="Arial"/>
              <a:ea typeface="Arial"/>
              <a:cs typeface="Arial"/>
              <a:sym typeface="Arial"/>
            </a:endParaRPr>
          </a:p>
        </p:txBody>
      </p:sp>
      <p:pic>
        <p:nvPicPr>
          <p:cNvPr descr="post_object_image_1944125532" id="278" name="Google Shape;278;p27"/>
          <p:cNvPicPr preferRelativeResize="0"/>
          <p:nvPr/>
        </p:nvPicPr>
        <p:blipFill rotWithShape="1">
          <a:blip r:embed="rId6">
            <a:alphaModFix/>
          </a:blip>
          <a:srcRect b="0" l="0" r="0" t="0"/>
          <a:stretch/>
        </p:blipFill>
        <p:spPr>
          <a:xfrm>
            <a:off x="3555226" y="4347055"/>
            <a:ext cx="1504966" cy="1128016"/>
          </a:xfrm>
          <a:prstGeom prst="rect">
            <a:avLst/>
          </a:prstGeom>
          <a:noFill/>
          <a:ln>
            <a:noFill/>
          </a:ln>
        </p:spPr>
      </p:pic>
      <p:cxnSp>
        <p:nvCxnSpPr>
          <p:cNvPr id="279" name="Google Shape;279;p27"/>
          <p:cNvCxnSpPr>
            <a:stCxn id="271" idx="3"/>
            <a:endCxn id="268" idx="1"/>
          </p:cNvCxnSpPr>
          <p:nvPr/>
        </p:nvCxnSpPr>
        <p:spPr>
          <a:xfrm>
            <a:off x="3219754" y="2545319"/>
            <a:ext cx="297600" cy="0"/>
          </a:xfrm>
          <a:prstGeom prst="straightConnector1">
            <a:avLst/>
          </a:prstGeom>
          <a:noFill/>
          <a:ln cap="flat" cmpd="sng" w="19050">
            <a:solidFill>
              <a:schemeClr val="accent1"/>
            </a:solidFill>
            <a:prstDash val="solid"/>
            <a:round/>
            <a:headEnd len="sm" w="sm" type="none"/>
            <a:tailEnd len="med" w="med" type="triangle"/>
          </a:ln>
        </p:spPr>
      </p:cxnSp>
      <p:cxnSp>
        <p:nvCxnSpPr>
          <p:cNvPr id="280" name="Google Shape;280;p27"/>
          <p:cNvCxnSpPr>
            <a:stCxn id="268" idx="3"/>
            <a:endCxn id="273" idx="1"/>
          </p:cNvCxnSpPr>
          <p:nvPr/>
        </p:nvCxnSpPr>
        <p:spPr>
          <a:xfrm>
            <a:off x="6618764" y="2545345"/>
            <a:ext cx="317100" cy="0"/>
          </a:xfrm>
          <a:prstGeom prst="straightConnector1">
            <a:avLst/>
          </a:prstGeom>
          <a:noFill/>
          <a:ln cap="flat" cmpd="sng" w="19050">
            <a:solidFill>
              <a:schemeClr val="accent1"/>
            </a:solidFill>
            <a:prstDash val="solid"/>
            <a:round/>
            <a:headEnd len="sm" w="sm" type="none"/>
            <a:tailEnd len="med" w="med" type="triangle"/>
          </a:ln>
        </p:spPr>
      </p:cxnSp>
      <p:cxnSp>
        <p:nvCxnSpPr>
          <p:cNvPr id="281" name="Google Shape;281;p27"/>
          <p:cNvCxnSpPr>
            <a:stCxn id="273" idx="2"/>
            <a:endCxn id="270" idx="0"/>
          </p:cNvCxnSpPr>
          <p:nvPr/>
        </p:nvCxnSpPr>
        <p:spPr>
          <a:xfrm flipH="1">
            <a:off x="7684724" y="3481758"/>
            <a:ext cx="214200" cy="339900"/>
          </a:xfrm>
          <a:prstGeom prst="straightConnector1">
            <a:avLst/>
          </a:prstGeom>
          <a:noFill/>
          <a:ln cap="flat" cmpd="sng" w="19050">
            <a:solidFill>
              <a:schemeClr val="accent1"/>
            </a:solidFill>
            <a:prstDash val="solid"/>
            <a:round/>
            <a:headEnd len="sm" w="sm" type="none"/>
            <a:tailEnd len="med" w="med" type="triangle"/>
          </a:ln>
        </p:spPr>
      </p:cxnSp>
      <p:cxnSp>
        <p:nvCxnSpPr>
          <p:cNvPr id="282" name="Google Shape;282;p27"/>
          <p:cNvCxnSpPr>
            <a:stCxn id="270" idx="1"/>
            <a:endCxn id="269" idx="3"/>
          </p:cNvCxnSpPr>
          <p:nvPr/>
        </p:nvCxnSpPr>
        <p:spPr>
          <a:xfrm rot="10800000">
            <a:off x="5858311" y="4758104"/>
            <a:ext cx="537900" cy="0"/>
          </a:xfrm>
          <a:prstGeom prst="straightConnector1">
            <a:avLst/>
          </a:prstGeom>
          <a:noFill/>
          <a:ln cap="flat" cmpd="sng" w="19050">
            <a:solidFill>
              <a:schemeClr val="accent1"/>
            </a:solidFill>
            <a:prstDash val="solid"/>
            <a:round/>
            <a:headEnd len="sm" w="sm" type="none"/>
            <a:tailEnd len="med" w="med" type="triangle"/>
          </a:ln>
        </p:spPr>
      </p:cxnSp>
      <p:sp>
        <p:nvSpPr>
          <p:cNvPr id="283" name="Google Shape;283;p27"/>
          <p:cNvSpPr txBox="1"/>
          <p:nvPr/>
        </p:nvSpPr>
        <p:spPr>
          <a:xfrm>
            <a:off x="280500" y="5821806"/>
            <a:ext cx="61761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Kết quả: 247 / 28</a:t>
            </a:r>
            <a:r>
              <a:rPr lang="en-US" sz="2000"/>
              <a:t>6</a:t>
            </a:r>
            <a:r>
              <a:rPr b="0" i="0" lang="en-US" sz="2000" u="none" cap="none" strike="noStrike">
                <a:solidFill>
                  <a:srgbClr val="000000"/>
                </a:solidFill>
                <a:latin typeface="Arial"/>
                <a:ea typeface="Arial"/>
                <a:cs typeface="Arial"/>
                <a:sym typeface="Arial"/>
              </a:rPr>
              <a:t> tiêu chí đạt chuẩn CIS Benchmark</a:t>
            </a:r>
            <a:endParaRPr b="0" i="0" sz="2000" u="none" cap="none" strike="noStrike">
              <a:solidFill>
                <a:srgbClr val="000000"/>
              </a:solidFill>
              <a:latin typeface="Arial"/>
              <a:ea typeface="Arial"/>
              <a:cs typeface="Arial"/>
              <a:sym typeface="Arial"/>
            </a:endParaRPr>
          </a:p>
        </p:txBody>
      </p:sp>
      <p:sp>
        <p:nvSpPr>
          <p:cNvPr id="284" name="Google Shape;284;p27"/>
          <p:cNvSpPr/>
          <p:nvPr/>
        </p:nvSpPr>
        <p:spPr>
          <a:xfrm>
            <a:off x="167640" y="3785949"/>
            <a:ext cx="2077085" cy="730250"/>
          </a:xfrm>
          <a:prstGeom prst="round2DiagRect">
            <a:avLst>
              <a:gd fmla="val 16667" name="adj1"/>
              <a:gd fmla="val 0" name="adj2"/>
            </a:avLst>
          </a:prstGeom>
          <a:solidFill>
            <a:srgbClr val="BF2D00"/>
          </a:solidFill>
          <a:ln cap="flat" cmpd="sng" w="25400">
            <a:solidFill>
              <a:srgbClr val="09357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Windows Server 2022 Benchmark v5.0.0</a:t>
            </a:r>
            <a:endParaRPr b="0" i="0" sz="1400" u="none" cap="none" strike="noStrike">
              <a:solidFill>
                <a:schemeClr val="lt1"/>
              </a:solidFill>
              <a:latin typeface="Arial"/>
              <a:ea typeface="Arial"/>
              <a:cs typeface="Arial"/>
              <a:sym typeface="Arial"/>
            </a:endParaRPr>
          </a:p>
        </p:txBody>
      </p:sp>
      <p:sp>
        <p:nvSpPr>
          <p:cNvPr id="285" name="Google Shape;285;p27"/>
          <p:cNvSpPr/>
          <p:nvPr/>
        </p:nvSpPr>
        <p:spPr>
          <a:xfrm>
            <a:off x="314325" y="4869418"/>
            <a:ext cx="1730375" cy="650875"/>
          </a:xfrm>
          <a:prstGeom prst="round1Rect">
            <a:avLst>
              <a:gd fmla="val 16667" name="adj"/>
            </a:avLst>
          </a:prstGeom>
          <a:solidFill>
            <a:srgbClr val="BF2D00"/>
          </a:solidFill>
          <a:ln cap="flat" cmpd="sng" w="25400">
            <a:solidFill>
              <a:srgbClr val="09357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Level 1</a:t>
            </a:r>
            <a:endParaRPr b="0" i="0" sz="1400" u="none" cap="none" strike="noStrike">
              <a:solidFill>
                <a:srgbClr val="FFFFFF"/>
              </a:solidFill>
              <a:latin typeface="Arial"/>
              <a:ea typeface="Arial"/>
              <a:cs typeface="Arial"/>
              <a:sym typeface="Arial"/>
            </a:endParaRPr>
          </a:p>
        </p:txBody>
      </p:sp>
      <p:sp>
        <p:nvSpPr>
          <p:cNvPr id="286" name="Google Shape;286;p27"/>
          <p:cNvSpPr/>
          <p:nvPr/>
        </p:nvSpPr>
        <p:spPr>
          <a:xfrm>
            <a:off x="2345531" y="995720"/>
            <a:ext cx="2786063" cy="494109"/>
          </a:xfrm>
          <a:prstGeom prst="hexagon">
            <a:avLst>
              <a:gd fmla="val 25000" name="adj"/>
              <a:gd fmla="val 115470" name="vf"/>
            </a:avLst>
          </a:prstGeom>
          <a:solidFill>
            <a:srgbClr val="BF2D00"/>
          </a:solidFill>
          <a:ln cap="flat" cmpd="sng" w="25400">
            <a:solidFill>
              <a:srgbClr val="09357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Audit + Remediate</a:t>
            </a:r>
            <a:endParaRPr b="0" i="0" sz="1400" u="none" cap="none" strike="noStrike">
              <a:solidFill>
                <a:schemeClr val="lt1"/>
              </a:solidFill>
              <a:latin typeface="Arial"/>
              <a:ea typeface="Arial"/>
              <a:cs typeface="Arial"/>
              <a:sym typeface="Arial"/>
            </a:endParaRPr>
          </a:p>
        </p:txBody>
      </p:sp>
      <p:sp>
        <p:nvSpPr>
          <p:cNvPr id="287" name="Google Shape;287;p27"/>
          <p:cNvSpPr/>
          <p:nvPr/>
        </p:nvSpPr>
        <p:spPr>
          <a:xfrm>
            <a:off x="285750" y="1608892"/>
            <a:ext cx="1355090" cy="1872853"/>
          </a:xfrm>
          <a:prstGeom prst="roundRect">
            <a:avLst>
              <a:gd fmla="val 16667" name="adj"/>
            </a:avLst>
          </a:prstGeom>
          <a:noFill/>
          <a:ln cap="flat" cmpd="sng" w="25400">
            <a:solidFill>
              <a:srgbClr val="09357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8" name="Google Shape;288;p27"/>
          <p:cNvSpPr txBox="1"/>
          <p:nvPr/>
        </p:nvSpPr>
        <p:spPr>
          <a:xfrm>
            <a:off x="216456" y="2090261"/>
            <a:ext cx="1462326" cy="910114"/>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b="1" i="0" lang="en-US" sz="1600" u="none" cap="none" strike="noStrike">
                <a:solidFill>
                  <a:srgbClr val="000000"/>
                </a:solidFill>
                <a:latin typeface="Arial"/>
                <a:ea typeface="Arial"/>
                <a:cs typeface="Arial"/>
                <a:sym typeface="Arial"/>
              </a:rPr>
              <a:t>Establishing a system</a:t>
            </a:r>
            <a:endParaRPr b="1" i="0" sz="1600" u="none" cap="none" strike="noStrike">
              <a:solidFill>
                <a:srgbClr val="000000"/>
              </a:solidFill>
              <a:latin typeface="Arial"/>
              <a:ea typeface="Arial"/>
              <a:cs typeface="Arial"/>
              <a:sym typeface="Arial"/>
            </a:endParaRPr>
          </a:p>
        </p:txBody>
      </p:sp>
      <p:cxnSp>
        <p:nvCxnSpPr>
          <p:cNvPr id="289" name="Google Shape;289;p27"/>
          <p:cNvCxnSpPr>
            <a:stCxn id="288" idx="3"/>
            <a:endCxn id="271" idx="1"/>
          </p:cNvCxnSpPr>
          <p:nvPr/>
        </p:nvCxnSpPr>
        <p:spPr>
          <a:xfrm>
            <a:off x="1678782" y="2545318"/>
            <a:ext cx="186000" cy="0"/>
          </a:xfrm>
          <a:prstGeom prst="straightConnector1">
            <a:avLst/>
          </a:prstGeom>
          <a:noFill/>
          <a:ln cap="flat" cmpd="sng" w="19050">
            <a:solidFill>
              <a:schemeClr val="accent1"/>
            </a:solidFill>
            <a:prstDash val="solid"/>
            <a:round/>
            <a:headEnd len="sm" w="sm"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8"/>
          <p:cNvSpPr txBox="1"/>
          <p:nvPr>
            <p:ph idx="1" type="body"/>
          </p:nvPr>
        </p:nvSpPr>
        <p:spPr>
          <a:xfrm>
            <a:off x="0" y="2910696"/>
            <a:ext cx="9257800" cy="103660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1000"/>
              </a:spcBef>
              <a:spcAft>
                <a:spcPts val="0"/>
              </a:spcAft>
              <a:buSzPts val="2880"/>
              <a:buNone/>
            </a:pPr>
            <a:r>
              <a:rPr lang="en-US" sz="3600">
                <a:solidFill>
                  <a:schemeClr val="accent1"/>
                </a:solidFill>
                <a:latin typeface="Arial"/>
                <a:ea typeface="Arial"/>
                <a:cs typeface="Arial"/>
                <a:sym typeface="Arial"/>
              </a:rPr>
              <a:t>CẢM ƠN QUÝ THẦY CÔ ĐÃ LẮNG NGHE!</a:t>
            </a:r>
            <a:endParaRPr sz="3600">
              <a:solidFill>
                <a:schemeClr val="accen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LuanVT">
  <a:themeElements>
    <a:clrScheme name="LuanVT">
      <a:dk1>
        <a:srgbClr val="000000"/>
      </a:dk1>
      <a:lt1>
        <a:srgbClr val="FFFFFF"/>
      </a:lt1>
      <a:dk2>
        <a:srgbClr val="44546A"/>
      </a:dk2>
      <a:lt2>
        <a:srgbClr val="E7E6E6"/>
      </a:lt2>
      <a:accent1>
        <a:srgbClr val="0D47A1"/>
      </a:accent1>
      <a:accent2>
        <a:srgbClr val="FF3D00"/>
      </a:accent2>
      <a:accent3>
        <a:srgbClr val="EEEEEE"/>
      </a:accent3>
      <a:accent4>
        <a:srgbClr val="EF6C00"/>
      </a:accent4>
      <a:accent5>
        <a:srgbClr val="0091EA"/>
      </a:accent5>
      <a:accent6>
        <a:srgbClr val="004D40"/>
      </a:accent6>
      <a:hlink>
        <a:srgbClr val="01579B"/>
      </a:hlink>
      <a:folHlink>
        <a:srgbClr val="0157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2026-05-25T16:04:05Z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2052-12.9.0.26431</vt:lpwstr>
  </property>
</Properties>
</file>